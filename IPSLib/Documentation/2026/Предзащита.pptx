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62" r:id="rId4"/>
  </p:sldMasterIdLst>
  <p:notesMasterIdLst>
    <p:notesMasterId r:id="rId30"/>
  </p:notesMasterIdLst>
  <p:handoutMasterIdLst>
    <p:handoutMasterId r:id="rId31"/>
  </p:handoutMasterIdLst>
  <p:sldIdLst>
    <p:sldId id="256" r:id="rId5"/>
    <p:sldId id="292" r:id="rId6"/>
    <p:sldId id="293" r:id="rId7"/>
    <p:sldId id="283" r:id="rId8"/>
    <p:sldId id="322" r:id="rId9"/>
    <p:sldId id="324" r:id="rId10"/>
    <p:sldId id="325" r:id="rId11"/>
    <p:sldId id="323" r:id="rId12"/>
    <p:sldId id="301" r:id="rId13"/>
    <p:sldId id="304" r:id="rId14"/>
    <p:sldId id="326" r:id="rId15"/>
    <p:sldId id="327" r:id="rId16"/>
    <p:sldId id="310" r:id="rId17"/>
    <p:sldId id="319" r:id="rId18"/>
    <p:sldId id="328" r:id="rId19"/>
    <p:sldId id="330" r:id="rId20"/>
    <p:sldId id="331" r:id="rId21"/>
    <p:sldId id="329" r:id="rId22"/>
    <p:sldId id="332" r:id="rId23"/>
    <p:sldId id="334" r:id="rId24"/>
    <p:sldId id="335" r:id="rId25"/>
    <p:sldId id="336" r:id="rId26"/>
    <p:sldId id="337" r:id="rId27"/>
    <p:sldId id="320" r:id="rId28"/>
    <p:sldId id="339" r:id="rId29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 showGuides="1">
      <p:cViewPr varScale="1">
        <p:scale>
          <a:sx n="108" d="100"/>
          <a:sy n="108" d="100"/>
        </p:scale>
        <p:origin x="702" y="108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0B70564-6F9F-430C-A278-C3C05BB2F2AC}" type="datetime1">
              <a:rPr lang="ru-RU" smtClean="0"/>
              <a:t>16.12.2025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4AB78DD-9481-4863-BCCC-946573546DA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F4D3-4D0E-4573-BAC5-4FE41B844CA6}" type="datetime1">
              <a:rPr lang="ru-RU" smtClean="0"/>
              <a:pPr/>
              <a:t>16.12.2025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63359F2-43EF-4812-9DC0-98C0B1A40681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9276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06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rtl="0"/>
            <a:r>
              <a:rPr lang="ru" dirty="0"/>
              <a:t>Заголовок слайда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rtlCol="0"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34252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8897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 rtlCol="0">
            <a:noAutofit/>
          </a:bodyPr>
          <a:lstStyle>
            <a:lvl1pPr algn="ctr">
              <a:defRPr/>
            </a:lvl1pPr>
          </a:lstStyle>
          <a:p>
            <a:pPr rtl="0"/>
            <a:r>
              <a:rPr lang="ru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"/>
              <a:t>Щелкните, чтобы добавить рисунок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5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rtlCol="0" anchor="b">
            <a:noAutofit/>
          </a:bodyPr>
          <a:lstStyle>
            <a:lvl1pPr algn="l">
              <a:defRPr sz="2800"/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03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(низ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rtlCol="0" anchor="ctr" anchorCtr="0">
            <a:noAutofit/>
          </a:bodyPr>
          <a:lstStyle/>
          <a:p>
            <a:pPr rtl="0"/>
            <a:r>
              <a:rPr lang="ru-RU" noProof="0" dirty="0"/>
              <a:t>Заголовок слайда</a:t>
            </a:r>
            <a:endParaRPr lang="ru-RU" noProof="0" dirty="0">
              <a:solidFill>
                <a:schemeClr val="tx2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rtlCol="0"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18314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rtlCol="0" anchor="b">
            <a:noAutofit/>
          </a:bodyPr>
          <a:lstStyle>
            <a:lvl1pPr algn="ctr">
              <a:defRPr sz="40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725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rtlCol="0"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20XX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6791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rtlCol="0"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20XX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494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 rtlCol="0">
            <a:noAutofit/>
          </a:bodyPr>
          <a:lstStyle>
            <a:lvl1pPr algn="l"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225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04EDE807-0B0D-AB17-AEC5-973B8468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D96F4F-F3DC-87D8-C13D-6619F4CD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D73CFE-935B-6D65-59E2-60B4C0A2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0789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"/>
              <a:t>20XX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5720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E284FBA-8100-A68A-E505-8394037280E3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3D76077-2232-20C1-A39F-D53FF37F23AD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3E564DB-C879-75FB-127D-6BEDFDDFE5E9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2596683C-B322-4FC1-A3A3-337211F501AE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9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80" r:id="rId3"/>
    <p:sldLayoutId id="2147483797" r:id="rId4"/>
    <p:sldLayoutId id="2147483787" r:id="rId5"/>
    <p:sldLayoutId id="2147483793" r:id="rId6"/>
    <p:sldLayoutId id="2147483766" r:id="rId7"/>
    <p:sldLayoutId id="2147483798" r:id="rId8"/>
    <p:sldLayoutId id="2147483779" r:id="rId9"/>
    <p:sldLayoutId id="2147483769" r:id="rId1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070901"/>
            <a:ext cx="11265407" cy="1499616"/>
          </a:xfrm>
        </p:spPr>
        <p:txBody>
          <a:bodyPr rtlCol="0"/>
          <a:lstStyle/>
          <a:p>
            <a:r>
              <a:rPr lang="ru-RU" dirty="0"/>
              <a:t>Обнаружение аномальной активности в сети на основе анализа статистических отклонений в работе системы</a:t>
            </a:r>
            <a:endParaRPr lang="ru" dirty="0"/>
          </a:p>
        </p:txBody>
      </p:sp>
      <p:sp>
        <p:nvSpPr>
          <p:cNvPr id="3" name="TextBox 2"/>
          <p:cNvSpPr txBox="1"/>
          <p:nvPr/>
        </p:nvSpPr>
        <p:spPr>
          <a:xfrm>
            <a:off x="8788498" y="5919397"/>
            <a:ext cx="3527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 студент КБ-5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Сластухин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Антон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98" y="2883300"/>
            <a:ext cx="2934109" cy="2724530"/>
          </a:xfrm>
          <a:prstGeom prst="rect">
            <a:avLst/>
          </a:prstGeom>
        </p:spPr>
      </p:pic>
      <p:pic>
        <p:nvPicPr>
          <p:cNvPr id="9" name="Picture 8" descr="Анализ сетевого трафика: методы и инструменты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45" y="2883300"/>
            <a:ext cx="8081676" cy="354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 rtlCol="0"/>
          <a:lstStyle/>
          <a:p>
            <a:pPr rtl="0"/>
            <a:r>
              <a:rPr lang="ru" dirty="0"/>
              <a:t>План	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0" y="2862470"/>
            <a:ext cx="4825014" cy="3510898"/>
          </a:xfrm>
        </p:spPr>
        <p:txBody>
          <a:bodyPr rtlCol="0"/>
          <a:lstStyle/>
          <a:p>
            <a:pPr rtl="0"/>
            <a:r>
              <a:rPr lang="ru" dirty="0">
                <a:solidFill>
                  <a:schemeClr val="accent5">
                    <a:lumMod val="50000"/>
                  </a:schemeClr>
                </a:solidFill>
              </a:rPr>
              <a:t>1.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Портрет активности</a:t>
            </a:r>
            <a:endParaRPr lang="ru" dirty="0">
              <a:solidFill>
                <a:schemeClr val="accent5">
                  <a:lumMod val="50000"/>
                </a:schemeClr>
              </a:solidFill>
            </a:endParaRPr>
          </a:p>
          <a:p>
            <a:pPr rtl="0"/>
            <a:r>
              <a:rPr lang="ru" dirty="0">
                <a:solidFill>
                  <a:schemeClr val="accent5">
                    <a:lumMod val="50000"/>
                  </a:schemeClr>
                </a:solidFill>
              </a:rPr>
              <a:t>2.Реализация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IDS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анализатора на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C#</a:t>
            </a:r>
            <a:endParaRPr lang="ru" dirty="0">
              <a:solidFill>
                <a:schemeClr val="accent5">
                  <a:lumMod val="50000"/>
                </a:schemeClr>
              </a:solidFill>
            </a:endParaRPr>
          </a:p>
          <a:p>
            <a:pPr rtl="0"/>
            <a:r>
              <a:rPr lang="ru" dirty="0">
                <a:solidFill>
                  <a:schemeClr val="accent5">
                    <a:lumMod val="50000"/>
                  </a:schemeClr>
                </a:solidFill>
              </a:rPr>
              <a:t>3.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Проверка на базе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TelecomX</a:t>
            </a:r>
            <a:endParaRPr lang="ru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ru" dirty="0">
                <a:solidFill>
                  <a:schemeClr val="accent1"/>
                </a:solidFill>
              </a:rPr>
              <a:t>4. 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системы(архитектура)</a:t>
            </a:r>
            <a:endParaRPr lang="en-US" dirty="0">
              <a:solidFill>
                <a:schemeClr val="accent1"/>
              </a:solidFill>
            </a:endParaRPr>
          </a:p>
          <a:p>
            <a:pPr rtl="0"/>
            <a:r>
              <a:rPr lang="ru" dirty="0">
                <a:solidFill>
                  <a:schemeClr val="accent1"/>
                </a:solidFill>
              </a:rPr>
              <a:t>5.Реализация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</a:p>
          <a:p>
            <a:pPr rtl="0"/>
            <a:r>
              <a:rPr lang="ru-RU" dirty="0">
                <a:solidFill>
                  <a:schemeClr val="tx2"/>
                </a:solidFill>
              </a:rPr>
              <a:t>6.Заключение</a:t>
            </a:r>
            <a:endParaRPr lang="ru" dirty="0">
              <a:solidFill>
                <a:schemeClr val="tx2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5420905" y="827405"/>
            <a:ext cx="5077460" cy="53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1224" y="2490652"/>
            <a:ext cx="6786880" cy="3296702"/>
          </a:xfrm>
        </p:spPr>
        <p:txBody>
          <a:bodyPr rtlCol="0">
            <a:normAutofit/>
          </a:bodyPr>
          <a:lstStyle/>
          <a:p>
            <a:r>
              <a:rPr lang="ru-RU" dirty="0"/>
              <a:t>Анализ предыдущей активности для ответа на вопрос</a:t>
            </a:r>
          </a:p>
          <a:p>
            <a:pPr marL="0" indent="0">
              <a:buNone/>
            </a:pPr>
            <a:r>
              <a:rPr lang="ru-RU" dirty="0"/>
              <a:t>	«Является ли новая активность аномальной?».</a:t>
            </a:r>
          </a:p>
          <a:p>
            <a:r>
              <a:rPr lang="ru-RU" dirty="0"/>
              <a:t>Система отражает индивидуальные особенности владельца системы.</a:t>
            </a:r>
          </a:p>
          <a:p>
            <a:r>
              <a:rPr lang="ru-RU" dirty="0"/>
              <a:t>Резкие изменения в жизни человека/активности системы являются поводом обратить на это внимание.</a:t>
            </a:r>
          </a:p>
          <a:p>
            <a:r>
              <a:rPr lang="ru-RU" dirty="0"/>
              <a:t>Незначительные изменения в течение времени допускаются – потенциальная уязвимость.</a:t>
            </a:r>
            <a:endParaRPr lang="ru" dirty="0"/>
          </a:p>
        </p:txBody>
      </p:sp>
      <p:pic>
        <p:nvPicPr>
          <p:cNvPr id="6150" name="Picture 6" descr="Vetores de Explosão De Atividades De Rede e mais imagens de Surpreendente -  Surpreendente, Adulto, Cabeça Humana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785" y="767949"/>
            <a:ext cx="4067175" cy="582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 txBox="1">
            <a:spLocks/>
          </p:cNvSpPr>
          <p:nvPr/>
        </p:nvSpPr>
        <p:spPr>
          <a:xfrm>
            <a:off x="436881" y="629920"/>
            <a:ext cx="4457335" cy="2809240"/>
          </a:xfrm>
          <a:prstGeom prst="rect">
            <a:avLst/>
          </a:prstGeom>
        </p:spPr>
        <p:txBody>
          <a:bodyPr vert="horz" lIns="91440" tIns="182880" rIns="91440" bIns="182880" rtlCol="0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" dirty="0">
                <a:solidFill>
                  <a:schemeClr val="accent5">
                    <a:lumMod val="50000"/>
                  </a:schemeClr>
                </a:solidFill>
              </a:rPr>
              <a:t>1.Портрет активности</a:t>
            </a:r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981891"/>
          </a:xfrm>
          <a:noFill/>
        </p:spPr>
        <p:txBody>
          <a:bodyPr rtlCol="0"/>
          <a:lstStyle/>
          <a:p>
            <a:r>
              <a:rPr lang="ru" dirty="0">
                <a:solidFill>
                  <a:schemeClr val="accent5">
                    <a:lumMod val="50000"/>
                  </a:schemeClr>
                </a:solidFill>
              </a:rPr>
              <a:t>2.Реализация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IDS 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анализатора на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C#</a:t>
            </a:r>
            <a:endParaRPr lang="ru-R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147160" y="2367279"/>
            <a:ext cx="8128954" cy="333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B0208-5D79-EDA6-707C-C0320BF5A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994"/>
            <a:ext cx="9144000" cy="934375"/>
          </a:xfrm>
        </p:spPr>
        <p:txBody>
          <a:bodyPr/>
          <a:lstStyle/>
          <a:p>
            <a:r>
              <a:rPr lang="ru-RU" dirty="0"/>
              <a:t>Описание Анализатора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B5C2540-28E0-04F8-CD9C-2EE0211F364E}"/>
              </a:ext>
            </a:extLst>
          </p:cNvPr>
          <p:cNvSpPr txBox="1">
            <a:spLocks/>
          </p:cNvSpPr>
          <p:nvPr/>
        </p:nvSpPr>
        <p:spPr>
          <a:xfrm>
            <a:off x="503068" y="1861832"/>
            <a:ext cx="5152008" cy="42585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1.На вход система получает подготовленный датасет(</a:t>
            </a:r>
            <a:r>
              <a:rPr lang="en-US" dirty="0"/>
              <a:t>DATAFRAME/CSV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2.</a:t>
            </a:r>
            <a:r>
              <a:rPr lang="ru-RU" dirty="0"/>
              <a:t>Формируется набор «Предсказателей</a:t>
            </a:r>
            <a:r>
              <a:rPr lang="en-US" dirty="0"/>
              <a:t>/</a:t>
            </a:r>
            <a:r>
              <a:rPr lang="ru-RU" dirty="0"/>
              <a:t>анализаторов»</a:t>
            </a:r>
          </a:p>
          <a:p>
            <a:r>
              <a:rPr lang="ru-RU" dirty="0"/>
              <a:t>3.Каждому предсказателю отдаётся на вход обучающая часть датасета – он её каким-либо образом учитывает, в зависимости от своей внутренней реализации</a:t>
            </a:r>
          </a:p>
          <a:p>
            <a:r>
              <a:rPr lang="ru-RU" dirty="0"/>
              <a:t>4.Алгоритм распределения доверительных весов присваивает каждому анализатору вес</a:t>
            </a:r>
          </a:p>
          <a:p>
            <a:r>
              <a:rPr lang="ru-RU" dirty="0"/>
              <a:t>5.Система готова к работе – приходит новая запись для предсказания, каждый анализатор её обрабатывает и даёт свою оценку. Формируется общая оценка, с учётом ранее присвоенного веса.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CD7249-1298-0659-9462-E85563D5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843" y="1532890"/>
            <a:ext cx="5077460" cy="53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9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4AA42-F895-98C2-9138-5237CE3F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BDE63-90BC-84A5-4C9F-9A7009D29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994"/>
            <a:ext cx="9144000" cy="934375"/>
          </a:xfrm>
        </p:spPr>
        <p:txBody>
          <a:bodyPr/>
          <a:lstStyle/>
          <a:p>
            <a:r>
              <a:rPr lang="ru-RU" dirty="0"/>
              <a:t>Алгоритм распределения весов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C766796-8E96-55AD-469E-C48AA90E5A2C}"/>
              </a:ext>
            </a:extLst>
          </p:cNvPr>
          <p:cNvSpPr txBox="1">
            <a:spLocks/>
          </p:cNvSpPr>
          <p:nvPr/>
        </p:nvSpPr>
        <p:spPr>
          <a:xfrm>
            <a:off x="372861" y="1604099"/>
            <a:ext cx="6306106" cy="20520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Вход</a:t>
            </a:r>
            <a:r>
              <a:rPr lang="en-US" dirty="0"/>
              <a:t>:</a:t>
            </a:r>
            <a:endParaRPr lang="ru-RU" dirty="0"/>
          </a:p>
          <a:p>
            <a:pPr lvl="0" algn="l"/>
            <a:r>
              <a:rPr lang="ru-RU" dirty="0"/>
              <a:t>	</a:t>
            </a:r>
            <a:r>
              <a:rPr lang="en-US" dirty="0"/>
              <a:t>expected</a:t>
            </a:r>
            <a:r>
              <a:rPr lang="ru-RU" dirty="0"/>
              <a:t>, </a:t>
            </a:r>
            <a:r>
              <a:rPr lang="en-US" dirty="0"/>
              <a:t>current</a:t>
            </a:r>
            <a:r>
              <a:rPr lang="ru-RU" dirty="0"/>
              <a:t> - ожидаемый и фактический результат,</a:t>
            </a:r>
          </a:p>
          <a:p>
            <a:pPr lvl="0" algn="l"/>
            <a:r>
              <a:rPr lang="ru-RU" dirty="0"/>
              <a:t>	</a:t>
            </a:r>
            <a:r>
              <a:rPr lang="en-US" dirty="0"/>
              <a:t>weights</a:t>
            </a:r>
            <a:r>
              <a:rPr lang="ru-RU" dirty="0"/>
              <a:t> – текущий набор весов.</a:t>
            </a:r>
          </a:p>
          <a:p>
            <a:pPr algn="l"/>
            <a:r>
              <a:rPr lang="ru-RU" dirty="0"/>
              <a:t>Выход:</a:t>
            </a:r>
          </a:p>
          <a:p>
            <a:pPr lvl="0" algn="l"/>
            <a:r>
              <a:rPr lang="ru-RU" dirty="0"/>
              <a:t>	</a:t>
            </a:r>
            <a:r>
              <a:rPr lang="en-US" dirty="0"/>
              <a:t>new</a:t>
            </a:r>
            <a:r>
              <a:rPr lang="ru-RU" dirty="0"/>
              <a:t>_ </a:t>
            </a:r>
            <a:r>
              <a:rPr lang="en-US" dirty="0"/>
              <a:t>weights</a:t>
            </a:r>
            <a:r>
              <a:rPr lang="ru-RU" dirty="0"/>
              <a:t> – скорректированный набор весов.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30ADFD-A220-8A96-359D-0B371DE43D3F}"/>
                  </a:ext>
                </a:extLst>
              </p:cNvPr>
              <p:cNvSpPr txBox="1"/>
              <p:nvPr/>
            </p:nvSpPr>
            <p:spPr>
              <a:xfrm>
                <a:off x="365462" y="3567393"/>
                <a:ext cx="11446278" cy="3542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Алгоритм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1.Вычислить общую ошибку: </a:t>
                </a:r>
                <a14:m>
                  <m:oMath xmlns:m="http://schemas.openxmlformats.org/officeDocument/2006/math">
                    <m:r>
                      <a:rPr lang="ru-RU" b="1" i="1"/>
                      <m:t>𝒆𝒓𝒓𝒐𝒓</m:t>
                    </m:r>
                    <m:r>
                      <a:rPr lang="ru-RU" i="1"/>
                      <m:t>=</m:t>
                    </m:r>
                    <m:r>
                      <a:rPr lang="ru-RU" i="1"/>
                      <m:t>𝑒𝑥𝑝𝑒𝑐𝑡𝑒𝑑</m:t>
                    </m:r>
                    <m:r>
                      <a:rPr lang="ru-RU" i="1"/>
                      <m:t>−</m:t>
                    </m:r>
                    <m:r>
                      <a:rPr lang="ru-RU" i="1"/>
                      <m:t>𝑐𝑢𝑟𝑟𝑒𝑐𝑡</m:t>
                    </m:r>
                  </m:oMath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2.Вычислить значение </a:t>
                </a:r>
                <a:r>
                  <a:rPr lang="ru-RU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сигмоиды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от ошибки: </a:t>
                </a:r>
                <a14:m>
                  <m:oMath xmlns:m="http://schemas.openxmlformats.org/officeDocument/2006/math">
                    <m:r>
                      <a:rPr lang="ru-RU" b="1" i="1"/>
                      <m:t>𝒔𝒊𝒈𝒎</m:t>
                    </m:r>
                    <m:r>
                      <a:rPr lang="ru-RU" i="1"/>
                      <m:t>=</m:t>
                    </m:r>
                    <m:f>
                      <m:fPr>
                        <m:ctrlPr>
                          <a:rPr lang="ru-RU" i="1"/>
                        </m:ctrlPr>
                      </m:fPr>
                      <m:num>
                        <m:r>
                          <a:rPr lang="ru-RU" i="1"/>
                          <m:t>1</m:t>
                        </m:r>
                      </m:num>
                      <m:den>
                        <m:r>
                          <a:rPr lang="ru-RU" i="1"/>
                          <m:t>1+</m:t>
                        </m:r>
                        <m:sSup>
                          <m:sSupPr>
                            <m:ctrlPr>
                              <a:rPr lang="ru-RU" i="1"/>
                            </m:ctrlPr>
                          </m:sSupPr>
                          <m:e>
                            <m:r>
                              <a:rPr lang="ru-RU" i="1"/>
                              <m:t>𝑒</m:t>
                            </m:r>
                          </m:e>
                          <m:sup>
                            <m:r>
                              <a:rPr lang="ru-RU" i="1"/>
                              <m:t>𝑒𝑟𝑟𝑜𝑟</m:t>
                            </m:r>
                          </m:sup>
                        </m:sSup>
                      </m:den>
                    </m:f>
                  </m:oMath>
                </a14:m>
                <a:endParaRPr lang="ru-RU" dirty="0">
                  <a:latin typeface="Calibri" panose="020F0502020204030204" pitchFamily="34" charset="0"/>
                </a:endParaRPr>
              </a:p>
              <a:p>
                <a:endParaRPr lang="ru-RU" dirty="0">
                  <a:latin typeface="Calibri" panose="020F0502020204030204" pitchFamily="34" charset="0"/>
                </a:endParaRPr>
              </a:p>
              <a:p>
                <a:pPr lvl="0"/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</a:t>
                </a:r>
                <a:r>
                  <a:rPr lang="ru-RU" dirty="0"/>
                  <a:t> Вычислить значение корректировочного коэффициента</a:t>
                </a:r>
                <a:r>
                  <a:rPr lang="en-US" dirty="0"/>
                  <a:t>:</a:t>
                </a:r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</m:t>
                      </m:r>
                      <m:r>
                        <a:rPr lang="ru-RU" b="1" i="1"/>
                        <m:t>𝒅𝒆𝒍𝒕𝒂</m:t>
                      </m:r>
                      <m:r>
                        <a:rPr lang="ru-RU" i="1"/>
                        <m:t>= </m:t>
                      </m:r>
                      <m:r>
                        <a:rPr lang="ru-RU" i="1"/>
                        <m:t>𝑠𝑖𝑔𝑚</m:t>
                      </m:r>
                      <m:r>
                        <a:rPr lang="ru-RU" i="1"/>
                        <m:t>∗</m:t>
                      </m:r>
                      <m:r>
                        <a:rPr lang="ru-RU"/>
                        <m:t> (1 </m:t>
                      </m:r>
                      <m:r>
                        <a:rPr lang="ru-RU" i="1"/>
                        <m:t>−</m:t>
                      </m:r>
                      <m:r>
                        <a:rPr lang="ru-RU"/>
                        <m:t> </m:t>
                      </m:r>
                      <m:r>
                        <a:rPr lang="ru-RU" i="1"/>
                        <m:t>𝑠𝑖𝑔𝑚</m:t>
                      </m:r>
                      <m:r>
                        <a:rPr lang="ru-RU"/>
                        <m:t>) </m:t>
                      </m:r>
                      <m:r>
                        <a:rPr lang="ru-RU" i="1"/>
                        <m:t>∗</m:t>
                      </m:r>
                      <m:r>
                        <a:rPr lang="ru-RU"/>
                        <m:t> </m:t>
                      </m:r>
                      <m:r>
                        <m:rPr>
                          <m:sty m:val="p"/>
                        </m:rPr>
                        <a:rPr lang="ru-RU"/>
                        <m:t>error</m:t>
                      </m:r>
                      <m:r>
                        <a:rPr lang="ru-RU"/>
                        <m:t> </m:t>
                      </m:r>
                      <m:r>
                        <a:rPr lang="ru-RU" i="1"/>
                        <m:t>∗</m:t>
                      </m:r>
                      <m:r>
                        <a:rPr lang="ru-RU"/>
                        <m:t> </m:t>
                      </m:r>
                      <m:r>
                        <m:rPr>
                          <m:sty m:val="p"/>
                        </m:rPr>
                        <a:rPr lang="ru-RU"/>
                        <m:t>learn</m:t>
                      </m:r>
                      <m:r>
                        <a:rPr lang="ru-RU"/>
                        <m:t>_</m:t>
                      </m:r>
                      <m:r>
                        <m:rPr>
                          <m:sty m:val="p"/>
                        </m:rPr>
                        <a:rPr lang="ru-RU"/>
                        <m:t>step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learn_step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шаг обучения, определяет скорость, с которой результат будет скорректирован</a:t>
                </a: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delta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общий корректировочный </a:t>
                </a:r>
                <a:r>
                  <a:rPr lang="ru-RU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кф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требуется на его основе вычислить индивидуальный для каждого анализатора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30ADFD-A220-8A96-359D-0B371DE43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62" y="3567393"/>
                <a:ext cx="11446278" cy="3542765"/>
              </a:xfrm>
              <a:prstGeom prst="rect">
                <a:avLst/>
              </a:prstGeom>
              <a:blipFill>
                <a:blip r:embed="rId2"/>
                <a:stretch>
                  <a:fillRect l="-479" t="-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26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8422-1278-84F2-649D-53B5EFE7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C6196-236D-3360-0C95-93B4D2553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994"/>
            <a:ext cx="9144000" cy="934375"/>
          </a:xfrm>
        </p:spPr>
        <p:txBody>
          <a:bodyPr/>
          <a:lstStyle/>
          <a:p>
            <a:r>
              <a:rPr lang="ru-RU" dirty="0"/>
              <a:t>Алгоритм распределения весов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B855C-2364-8BBF-E3D9-BCAE7071C36F}"/>
                  </a:ext>
                </a:extLst>
              </p:cNvPr>
              <p:cNvSpPr txBox="1"/>
              <p:nvPr/>
            </p:nvSpPr>
            <p:spPr>
              <a:xfrm>
                <a:off x="275206" y="1712674"/>
                <a:ext cx="11446278" cy="499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Алгоритм:</a:t>
                </a:r>
              </a:p>
              <a:p>
                <a:pPr lvl="0"/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Определить: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used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_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analyzers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анализаторы, которые принимали участие в полученном результате. </a:t>
                </a: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Анализатор может дать ответ («не знаю»), в таком случае он не учитывается в корректировке весов.</a:t>
                </a: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5.Получить сумму использованных весов: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𝑡𝑜𝑡𝑎𝑙</m:t>
                    </m:r>
                    <m:r>
                      <a:rPr lang="en-US" i="1"/>
                      <m:t>_</m:t>
                    </m:r>
                    <m:r>
                      <a:rPr lang="en-US" i="1"/>
                      <m:t>𝑢𝑠𝑒𝑑</m:t>
                    </m:r>
                    <m:r>
                      <a:rPr lang="en-US" i="1"/>
                      <m:t>_</m:t>
                    </m:r>
                    <m:r>
                      <a:rPr lang="en-US" i="1"/>
                      <m:t>𝑤𝑒𝑖𝑔h𝑡</m:t>
                    </m:r>
                    <m:r>
                      <a:rPr lang="en-US" i="1"/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ru-RU" i="1"/>
                        </m:ctrlPr>
                      </m:naryPr>
                      <m:sub>
                        <m:r>
                          <a:rPr lang="en-US" i="1"/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/>
                          <m:t>used</m:t>
                        </m:r>
                        <m:r>
                          <a:rPr lang="ru-RU"/>
                          <m:t>_</m:t>
                        </m:r>
                        <m:r>
                          <m:rPr>
                            <m:sty m:val="p"/>
                          </m:rPr>
                          <a:rPr lang="en-US"/>
                          <m:t>analyzers</m:t>
                        </m:r>
                      </m:sup>
                      <m:e>
                        <m:sSub>
                          <m:sSubPr>
                            <m:ctrlPr>
                              <a:rPr lang="ru-RU" i="1"/>
                            </m:ctrlPr>
                          </m:sSubPr>
                          <m:e>
                            <m:r>
                              <a:rPr lang="en-US" i="1"/>
                              <m:t>𝑤</m:t>
                            </m:r>
                          </m:e>
                          <m:sub>
                            <m:r>
                              <a:rPr lang="en-US" i="1"/>
                              <m:t>𝑎</m:t>
                            </m:r>
                          </m:sub>
                        </m:sSub>
                      </m:e>
                    </m:nary>
                    <m:r>
                      <a:rPr lang="en-US" i="1"/>
                      <m:t> </m:t>
                    </m:r>
                  </m:oMath>
                </a14:m>
                <a:endParaRPr lang="ru-RU" dirty="0"/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6.</a:t>
                </a:r>
                <a:r>
                  <a:rPr lang="ru-RU" dirty="0"/>
                  <a:t> Посчитать корректировочное значение для веса конкретного анализатора </a:t>
                </a:r>
                <a:r>
                  <a:rPr lang="ru-RU" b="1" dirty="0"/>
                  <a:t>а</a:t>
                </a:r>
                <a:r>
                  <a:rPr lang="ru-RU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𝑑𝑒𝑙𝑡𝑎</m:t>
                          </m:r>
                        </m:e>
                        <m:sub>
                          <m:r>
                            <a:rPr lang="ru-RU" i="1"/>
                            <m:t>𝑎</m:t>
                          </m:r>
                        </m:sub>
                      </m:sSub>
                      <m:r>
                        <a:rPr lang="ru-RU" i="1"/>
                        <m:t>=</m:t>
                      </m:r>
                      <m:f>
                        <m:fPr>
                          <m:type m:val="skw"/>
                          <m:ctrlPr>
                            <a:rPr lang="ru-RU" i="1"/>
                          </m:ctrlPr>
                        </m:fPr>
                        <m:num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𝑤</m:t>
                              </m:r>
                            </m:e>
                            <m:sub>
                              <m:r>
                                <a:rPr lang="ru-RU" i="1"/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i="1"/>
                            <m:t>𝑡𝑜𝑡𝑎𝑙</m:t>
                          </m:r>
                          <m:r>
                            <a:rPr lang="en-US" i="1"/>
                            <m:t>_</m:t>
                          </m:r>
                          <m:r>
                            <a:rPr lang="en-US" i="1"/>
                            <m:t>𝑢𝑠𝑒𝑑</m:t>
                          </m:r>
                          <m:r>
                            <a:rPr lang="en-US" i="1"/>
                            <m:t>_</m:t>
                          </m:r>
                          <m:r>
                            <a:rPr lang="en-US" i="1"/>
                            <m:t>𝑤𝑒𝑖𝑔h𝑡</m:t>
                          </m:r>
                        </m:den>
                      </m:f>
                      <m:r>
                        <a:rPr lang="ru-RU" i="1"/>
                        <m:t>∗</m:t>
                      </m:r>
                      <m:r>
                        <a:rPr lang="ru-RU" i="1"/>
                        <m:t>𝑑𝑒𝑙𝑡𝑎</m:t>
                      </m:r>
                    </m:oMath>
                  </m:oMathPara>
                </a14:m>
                <a:endParaRPr lang="ru-RU" dirty="0"/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7.</a:t>
                </a:r>
                <a:r>
                  <a:rPr lang="ru-RU" dirty="0"/>
                  <a:t> Новое значение веса анализатора: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𝑛𝑒𝑤</m:t>
                        </m:r>
                        <m:r>
                          <a:rPr lang="ru-RU" i="1"/>
                          <m:t>_</m:t>
                        </m:r>
                        <m:r>
                          <a:rPr lang="ru-RU" i="1"/>
                          <m:t>𝑤</m:t>
                        </m:r>
                      </m:e>
                      <m:sub>
                        <m:r>
                          <a:rPr lang="ru-RU" i="1"/>
                          <m:t>𝑎</m:t>
                        </m:r>
                      </m:sub>
                    </m:sSub>
                    <m:r>
                      <a:rPr lang="ru-RU" i="1"/>
                      <m:t>=</m:t>
                    </m:r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𝑑𝑒𝑙𝑡𝑎</m:t>
                        </m:r>
                      </m:e>
                      <m:sub>
                        <m:r>
                          <a:rPr lang="ru-RU" i="1"/>
                          <m:t>𝑎</m:t>
                        </m:r>
                      </m:sub>
                    </m:sSub>
                    <m:r>
                      <a:rPr lang="ru-RU" i="1"/>
                      <m:t>∗</m:t>
                    </m:r>
                    <m:sSub>
                      <m:sSubPr>
                        <m:ctrlPr>
                          <a:rPr lang="ru-RU" i="1"/>
                        </m:ctrlPr>
                      </m:sSubPr>
                      <m:e>
                        <m:r>
                          <a:rPr lang="ru-RU" i="1"/>
                          <m:t>𝑤</m:t>
                        </m:r>
                      </m:e>
                      <m:sub>
                        <m:r>
                          <a:rPr lang="ru-RU" i="1"/>
                          <m:t>𝑎</m:t>
                        </m:r>
                      </m:sub>
                    </m:sSub>
                  </m:oMath>
                </a14:m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Алгоритм позволяет распределить веса для произвольного набора анализаторов.</a:t>
                </a:r>
              </a:p>
              <a:p>
                <a:r>
                  <a:rPr lang="ru-RU" dirty="0"/>
                  <a:t>Вес анализатора показывает его вклад в результат.</a:t>
                </a:r>
              </a:p>
              <a:p>
                <a:endParaRPr lang="ru-RU" dirty="0"/>
              </a:p>
              <a:p>
                <a:r>
                  <a:rPr lang="ru-RU" dirty="0"/>
                  <a:t>Итог: Можно взять несколько анализаторов, не зная, насколько каждый из них эффективен в конкретной ситуации, использовать алгоритм и распределить выявить «коррелирующие» признаки(считаем, что анализатор отражает признак)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B855C-2364-8BBF-E3D9-BCAE7071C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06" y="1712674"/>
                <a:ext cx="11446278" cy="4995214"/>
              </a:xfrm>
              <a:prstGeom prst="rect">
                <a:avLst/>
              </a:prstGeom>
              <a:blipFill>
                <a:blip r:embed="rId2"/>
                <a:stretch>
                  <a:fillRect l="-426" t="-733" r="-479" b="-10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33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8E49-F890-C0EE-0A2D-C169DE4A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00F12-7AB0-0122-EC88-0A96A15AF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994"/>
            <a:ext cx="9144000" cy="934375"/>
          </a:xfrm>
        </p:spPr>
        <p:txBody>
          <a:bodyPr/>
          <a:lstStyle/>
          <a:p>
            <a:r>
              <a:rPr lang="ru-RU" dirty="0"/>
              <a:t>Оценка качества анализатора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CCA781A-51BD-B87A-CA9C-AB813D04E9AA}"/>
              </a:ext>
            </a:extLst>
          </p:cNvPr>
          <p:cNvSpPr txBox="1">
            <a:spLocks/>
          </p:cNvSpPr>
          <p:nvPr/>
        </p:nvSpPr>
        <p:spPr>
          <a:xfrm>
            <a:off x="1524000" y="2009041"/>
            <a:ext cx="9144000" cy="27937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Опр: </a:t>
            </a:r>
            <a:r>
              <a:rPr lang="ru-RU" b="1" dirty="0" err="1"/>
              <a:t>RSquared</a:t>
            </a:r>
            <a:r>
              <a:rPr lang="ru-RU" dirty="0"/>
              <a:t> (Коэффициент детерминации) – метрика для оценки качества модели, принимает значение от нуля до единицы.</a:t>
            </a:r>
          </a:p>
          <a:p>
            <a:r>
              <a:rPr lang="ru-RU" dirty="0"/>
              <a:t>Модель можно считать </a:t>
            </a:r>
            <a:r>
              <a:rPr lang="ru-RU" i="1" dirty="0"/>
              <a:t>неплохой</a:t>
            </a:r>
            <a:r>
              <a:rPr lang="ru-RU" dirty="0"/>
              <a:t>, если коэффициент больше 0.5, можно интерпретировать как соответствие модели данным. Чем ближе значение коэффициента к 1, тем сильнее соответствие.</a:t>
            </a:r>
          </a:p>
          <a:p>
            <a:pPr lvl="0"/>
            <a:r>
              <a:rPr lang="ru-RU" dirty="0"/>
              <a:t>Для </a:t>
            </a:r>
            <a:r>
              <a:rPr lang="ru-RU" i="1" dirty="0"/>
              <a:t>приемлемых</a:t>
            </a:r>
            <a:r>
              <a:rPr lang="ru-RU" dirty="0"/>
              <a:t> моделей предполагается, что коэффициент детерминации должен быть хотя бы не меньше 50 % (коэффициент корреляции превышает 70 %). </a:t>
            </a:r>
          </a:p>
          <a:p>
            <a:pPr lvl="0"/>
            <a:r>
              <a:rPr lang="ru-RU" dirty="0"/>
              <a:t>Модели с коэффициентом детерминации выше 80 % можно признать </a:t>
            </a:r>
            <a:r>
              <a:rPr lang="ru-RU" i="1" dirty="0"/>
              <a:t>хорошими</a:t>
            </a:r>
            <a:r>
              <a:rPr lang="ru-RU" dirty="0"/>
              <a:t> (коэффициент корреляции превышает 90 %).</a:t>
            </a:r>
          </a:p>
          <a:p>
            <a:pPr lvl="0"/>
            <a:r>
              <a:rPr lang="ru-RU" dirty="0"/>
              <a:t>Значение коэффициента детерминации 1 означает функциональную зависимость между переменными.</a:t>
            </a:r>
          </a:p>
        </p:txBody>
      </p:sp>
    </p:spTree>
    <p:extLst>
      <p:ext uri="{BB962C8B-B14F-4D97-AF65-F5344CB8AC3E}">
        <p14:creationId xmlns:p14="http://schemas.microsoft.com/office/powerpoint/2010/main" val="120338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1349828" y="901336"/>
            <a:ext cx="9805852" cy="50553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597C21-3F02-8C23-5EA3-4EE5A506B550}"/>
                  </a:ext>
                </a:extLst>
              </p:cNvPr>
              <p:cNvSpPr txBox="1"/>
              <p:nvPr/>
            </p:nvSpPr>
            <p:spPr>
              <a:xfrm>
                <a:off x="1831675" y="6174378"/>
                <a:ext cx="8842158" cy="394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𝑟𝑒𝑠𝑢𝑙𝑡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𝑟𝑜𝑤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𝑟𝑜𝑤</m:t>
                            </m:r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597C21-3F02-8C23-5EA3-4EE5A506B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675" y="6174378"/>
                <a:ext cx="8842158" cy="394788"/>
              </a:xfrm>
              <a:prstGeom prst="rect">
                <a:avLst/>
              </a:prstGeom>
              <a:blipFill>
                <a:blip r:embed="rId4"/>
                <a:stretch>
                  <a:fillRect t="-110769" b="-16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52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9166" y="620485"/>
            <a:ext cx="9144000" cy="981891"/>
          </a:xfrm>
          <a:noFill/>
        </p:spPr>
        <p:txBody>
          <a:bodyPr rtlCol="0"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3.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Проверка на базе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TelecomX</a:t>
            </a:r>
            <a:endParaRPr lang="ru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Объект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 txBox="1">
            <a:spLocks/>
          </p:cNvSpPr>
          <p:nvPr/>
        </p:nvSpPr>
        <p:spPr>
          <a:xfrm>
            <a:off x="478972" y="1612728"/>
            <a:ext cx="11164388" cy="2360024"/>
          </a:xfrm>
          <a:prstGeom prst="rect">
            <a:avLst/>
          </a:prstGeom>
        </p:spPr>
        <p:txBody>
          <a:bodyPr rtlCol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«С линейного оборудования узлов связи раз в какое-то время (например, раз в 10 минут) снимаются </a:t>
            </a:r>
            <a:r>
              <a:rPr lang="ru-RU" dirty="0" err="1"/>
              <a:t>логи</a:t>
            </a:r>
            <a:r>
              <a:rPr lang="ru-RU" dirty="0"/>
              <a:t>, содержащие информацию об </a:t>
            </a:r>
            <a:r>
              <a:rPr lang="ru-RU" dirty="0" err="1"/>
              <a:t>интернет-соединении</a:t>
            </a:r>
            <a:r>
              <a:rPr lang="ru-RU" dirty="0"/>
              <a:t> абонентов, как то номер сеанса связи, дата начала, конца и его продолжительность, а также номер абонента и количество скачанного и переданного им трафика. </a:t>
            </a:r>
          </a:p>
          <a:p>
            <a:r>
              <a:rPr lang="ru-RU" dirty="0"/>
              <a:t>Когда данные прилетали на хранилище, они обрабатывались аналитическим </a:t>
            </a:r>
            <a:r>
              <a:rPr lang="ru-RU" dirty="0" err="1"/>
              <a:t>пайплайном</a:t>
            </a:r>
            <a:r>
              <a:rPr lang="ru-RU" dirty="0"/>
              <a:t> для </a:t>
            </a:r>
            <a:r>
              <a:rPr lang="ru-RU" b="1" dirty="0"/>
              <a:t>выявления аномалий потребления трафика</a:t>
            </a:r>
            <a:r>
              <a:rPr lang="ru-RU" dirty="0"/>
              <a:t> абонентами за последнее время. В частности, если характер потребления трафика кардинально изменился</a:t>
            </a:r>
            <a:r>
              <a:rPr lang="en-US" dirty="0"/>
              <a:t>, </a:t>
            </a:r>
            <a:r>
              <a:rPr lang="ru-RU" dirty="0"/>
              <a:t>то есть подозрение на то, что оборудование абонента взломано и превратилось, например, в узел DDOS-сети или в спам-сервер</a:t>
            </a:r>
            <a:r>
              <a:rPr lang="en-US" dirty="0"/>
              <a:t>.</a:t>
            </a:r>
            <a:endParaRPr lang="ru" dirty="0"/>
          </a:p>
        </p:txBody>
      </p:sp>
      <p:pic>
        <p:nvPicPr>
          <p:cNvPr id="7170" name="Picture 2" descr="https://habrastorage.org/r/w1560/getpro/habr/upload_files/8f6/ed0/cef/8f6ed0cefc03cde7c0a4a36391e7a88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110" y="4129088"/>
            <a:ext cx="4048462" cy="231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 txBox="1">
            <a:spLocks/>
          </p:cNvSpPr>
          <p:nvPr/>
        </p:nvSpPr>
        <p:spPr>
          <a:xfrm>
            <a:off x="757647" y="4267201"/>
            <a:ext cx="6444341" cy="2090056"/>
          </a:xfrm>
          <a:prstGeom prst="rect">
            <a:avLst/>
          </a:prstGeom>
        </p:spPr>
        <p:txBody>
          <a:bodyPr rtlCol="0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Telecom10k — телеком-компания с 10 000 абонентов, 1 млн записей, 51 Мб данных.</a:t>
            </a:r>
          </a:p>
          <a:p>
            <a:r>
              <a:rPr lang="ru-RU" dirty="0"/>
              <a:t>Telecom100k — телеком-компания с 100 000 абонентов, 11 млн записей, 688 Мб данных.</a:t>
            </a:r>
          </a:p>
          <a:p>
            <a:r>
              <a:rPr lang="ru-RU" dirty="0"/>
              <a:t>Telecom1000k — телеком-компания с 1 000 000 абонентов, 117 млн записей, 7,2 Гб данных.</a:t>
            </a:r>
          </a:p>
          <a:p>
            <a:endParaRPr lang="ru" dirty="0"/>
          </a:p>
        </p:txBody>
      </p:sp>
    </p:spTree>
    <p:extLst>
      <p:ext uri="{BB962C8B-B14F-4D97-AF65-F5344CB8AC3E}">
        <p14:creationId xmlns:p14="http://schemas.microsoft.com/office/powerpoint/2010/main" val="173693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4D06-D62A-295B-A614-0542A9C6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52D54-E9C8-6EC5-44A8-160CA2F89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605901"/>
          </a:xfrm>
        </p:spPr>
        <p:txBody>
          <a:bodyPr/>
          <a:lstStyle/>
          <a:p>
            <a:r>
              <a:rPr lang="ru-RU" dirty="0"/>
              <a:t>Пример: как менялся уровень доверия пользователя 5828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161C9B-8425-8072-9366-198285EC4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5" y="1902999"/>
            <a:ext cx="5702300" cy="45612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9B5E453-D249-0B98-4D5A-C3A8AF760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91" y="129170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5">
            <a:extLst>
              <a:ext uri="{FF2B5EF4-FFF2-40B4-BE49-F238E27FC236}">
                <a16:creationId xmlns:a16="http://schemas.microsoft.com/office/drawing/2014/main" id="{72F914DC-2B78-6AFC-8F6D-EA60AE909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372" y="1934799"/>
            <a:ext cx="5816003" cy="465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4EE1D4B-133C-C71C-CC2C-6B3BF16C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569" y="6581001"/>
            <a:ext cx="494417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Параметр 1: </a:t>
            </a:r>
            <a:r>
              <a:rPr lang="ru-RU" altLang="ru-RU" sz="1200" i="1" dirty="0">
                <a:solidFill>
                  <a:srgbClr val="44546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бщая продолжительность сессий пользователя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F1C0FCF-CD4D-7F91-D308-2407D619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75" y="6466033"/>
            <a:ext cx="367799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Изменение уровня доверия к пользователю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07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B742-62B3-9A03-3635-9F4660CB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BA96F-E712-9454-B8E0-EA19B5FB4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605901"/>
          </a:xfrm>
        </p:spPr>
        <p:txBody>
          <a:bodyPr/>
          <a:lstStyle/>
          <a:p>
            <a:r>
              <a:rPr lang="ru-RU" dirty="0"/>
              <a:t>Пример: как менялся уровень доверия пользователя 5828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23B298-2AF8-5B6A-EED5-E7B59DD6F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5" y="1902999"/>
            <a:ext cx="5702300" cy="45612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37CFDC1-0178-DA35-84DB-1320B61A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91" y="129170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4F915B-5691-9F7D-6298-989FB01A9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569" y="6581001"/>
            <a:ext cx="3643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Параметр 2: Объём трафика пользователя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5932BF2-C6E7-D9CC-DC51-1AD61D9A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75" y="6466033"/>
            <a:ext cx="367799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Изменение уровня доверия к пользователю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79CD69-BB87-9857-120C-3A78E51C7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97602"/>
            <a:ext cx="5940425" cy="4752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709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280" y="699758"/>
            <a:ext cx="11267440" cy="596382"/>
          </a:xfrm>
        </p:spPr>
        <p:txBody>
          <a:bodyPr/>
          <a:lstStyle/>
          <a:p>
            <a:pPr algn="ctr"/>
            <a:r>
              <a:rPr lang="ru-RU" dirty="0"/>
              <a:t>Итог: </a:t>
            </a:r>
            <a:r>
              <a:rPr lang="en-US" dirty="0" err="1"/>
              <a:t>TelecomX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18703" y="1296140"/>
            <a:ext cx="103893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 635 клиентов у 3х замечен высокий уровень аномальной активности за последние 6 часов.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У 2х из 3х число аномалий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3+.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При этом найденные аномалии, действительно, являются существенными отклонениями и требуют внимания.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 процессе несколько корректировал политику и пришёл к следующим выводам: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1.Для составления портрета активности некорректно удалять «странные» данные, они могут отражать особенности.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2.Процесс обучения состоит из 3х этапов: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Первичная загрузка обучающих данных(0.7 – 0.8 общего количества)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Корректировка весов на тренировочных данных(модель о них ничего не знает)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Загрузка в модель тренировочных данных без корректировки весов для сохранения всей картины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Важно помнить, что каждый конкретный случай требует настройки, для повышения эффективности детектирования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творческий подход.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Алгоритм показал себя способным решать задачи поиска аномальной активности.</a:t>
            </a:r>
          </a:p>
        </p:txBody>
      </p:sp>
    </p:spTree>
    <p:extLst>
      <p:ext uri="{BB962C8B-B14F-4D97-AF65-F5344CB8AC3E}">
        <p14:creationId xmlns:p14="http://schemas.microsoft.com/office/powerpoint/2010/main" val="260624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дальше?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257" y="2177142"/>
            <a:ext cx="103893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1.Применить разработанную библиотеку для построения системы, которая будет анализировать активность пользователя в системе – трафик отлавливать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сниффером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, например,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WireShark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Придумать подход к построению портрета активности пользователя в операционной системе – трафика явно мало, нужно найти то, что отражает личные, индивидуальные особенности владельца системы, его привычки.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3.Использования математических алгоритмов и подходов к изучению человека, как часть природы. </a:t>
            </a:r>
          </a:p>
        </p:txBody>
      </p:sp>
    </p:spTree>
    <p:extLst>
      <p:ext uri="{BB962C8B-B14F-4D97-AF65-F5344CB8AC3E}">
        <p14:creationId xmlns:p14="http://schemas.microsoft.com/office/powerpoint/2010/main" val="1163419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2861-6C3A-F1E3-2419-8984DD1A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8042D-AADF-953E-8060-F7E512E1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системы(Модель данных)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0691D-2D87-B458-D075-CF85095838D6}"/>
              </a:ext>
            </a:extLst>
          </p:cNvPr>
          <p:cNvSpPr txBox="1"/>
          <p:nvPr/>
        </p:nvSpPr>
        <p:spPr>
          <a:xfrm>
            <a:off x="747010" y="1828801"/>
            <a:ext cx="106979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Нужно решить вопросы:</a:t>
            </a: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1.Какие данные могут отражать «аномальность» действия реальной системы</a:t>
            </a:r>
          </a:p>
          <a:p>
            <a:pPr lvl="0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Ответ: любые, в зависимости от конкретной задачи, политики, системы – нужна универсальность, реализуемая за счёт расширений и тонкой настройки</a:t>
            </a:r>
          </a:p>
          <a:p>
            <a:pPr lvl="0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своей системе использую библиотеки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анализа активности:</a:t>
            </a:r>
          </a:p>
          <a:p>
            <a:pPr lvl="0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Нагрузки на систему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(CPU, GPU, RAM):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Psutil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GPUtil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Platworm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Трафик (адреса, пакеты, объём, количество):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Scapy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(?) Возможен анализ как всей системы целиком, так и отдельно взятых процессов:</a:t>
            </a:r>
          </a:p>
          <a:p>
            <a:pPr lvl="0"/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Psutil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позволяет дополнительно получать активные соединения в разрезе процесса – можно связать с трафиком,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тк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известны порты.</a:t>
            </a:r>
          </a:p>
          <a:p>
            <a:pPr lvl="0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881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F3B6-C9BB-9CA5-70F7-668FAB61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6F075-7270-88B4-8A1E-C055EEBF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системы(Модель данных)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1E34CB-DF2C-8888-2D87-62133638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760" y="1313895"/>
            <a:ext cx="4982480" cy="514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02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D262-27DF-9CA5-44B0-9A454734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2D2AC1-A956-1FB9-DA5C-6D632BE2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677" y="1198486"/>
            <a:ext cx="5773645" cy="5530787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BF761C1-700A-0245-2DED-64538BEF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системы(Сервис представлений)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1711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B741-6920-83C3-85AE-0AEAEEC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8C2DA-33B6-0148-AD06-C1C1BA60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85FCE-80F3-40E1-CF26-7D9D4E37E51E}"/>
              </a:ext>
            </a:extLst>
          </p:cNvPr>
          <p:cNvSpPr txBox="1"/>
          <p:nvPr/>
        </p:nvSpPr>
        <p:spPr>
          <a:xfrm>
            <a:off x="747010" y="1296140"/>
            <a:ext cx="10697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2.Как пользователь работает с системой?</a:t>
            </a: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– процесс, без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но с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возможности реализовать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ECF304-1542-D722-E5E3-E2DB492CF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205" y="2086304"/>
            <a:ext cx="6725589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75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BDC87-5E6B-1151-C2F7-1C777288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05FAC-903F-42E0-845B-1DBE1212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DACA35-E9AE-D713-EEA6-EA0CB633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99" y="1470505"/>
            <a:ext cx="8068801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96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D2E2-F9AF-6BD0-BB14-7DBFB9E7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31E9F-F1C5-D2D4-8AB3-AF37DC4A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694D3C-41E3-6E5F-2699-F9EB49D15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514245"/>
            <a:ext cx="8211696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64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2DA3-919F-453F-B25A-20A7C657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AD3FB-683F-5C16-E535-70BB83E4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294C60-8B34-262C-E0C6-4E16D0245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327166"/>
            <a:ext cx="8202170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11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9D01-D6CC-7F00-9AF1-A8B98EFA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E8C99-D5F2-00A1-90E8-0821DCF9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82AAEE-87F1-82E2-F49F-BEEC30257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1381080"/>
            <a:ext cx="825932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19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164B-2C40-C7E5-6BFA-C2A11D03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42924-0C87-8650-268E-5B1E6F1E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596382"/>
          </a:xfrm>
        </p:spPr>
        <p:txBody>
          <a:bodyPr/>
          <a:lstStyle/>
          <a:p>
            <a:pPr algn="ctr"/>
            <a:r>
              <a:rPr lang="ru" dirty="0">
                <a:solidFill>
                  <a:schemeClr val="accent1"/>
                </a:solidFill>
              </a:rPr>
              <a:t>4.Реализация </a:t>
            </a:r>
            <a:r>
              <a:rPr lang="en-US" dirty="0">
                <a:solidFill>
                  <a:schemeClr val="accent1"/>
                </a:solidFill>
              </a:rPr>
              <a:t>IDS </a:t>
            </a:r>
            <a:r>
              <a:rPr lang="ru-RU" dirty="0">
                <a:solidFill>
                  <a:schemeClr val="accent1"/>
                </a:solidFill>
              </a:rPr>
              <a:t>системы(Интерфейс)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23409B-41CC-DF63-BD34-389B5D0A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438461"/>
            <a:ext cx="8211696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06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94037"/>
          </a:xfrm>
        </p:spPr>
        <p:txBody>
          <a:bodyPr/>
          <a:lstStyle/>
          <a:p>
            <a:pPr algn="ctr"/>
            <a:r>
              <a:rPr lang="ru-RU" dirty="0"/>
              <a:t>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337" y="1452140"/>
            <a:ext cx="103893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dirty="0"/>
              <a:t>Помимо анализатора, разработана система полного цикла, которая позволяет в базовой версии анализировать активность локальной системы.</a:t>
            </a:r>
          </a:p>
          <a:p>
            <a:r>
              <a:rPr lang="ru" dirty="0"/>
              <a:t>Полученая система – является универсальным решение в плане возможности легко её расширить, добавить свои:</a:t>
            </a: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1.Детализации</a:t>
            </a: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2.Легеры</a:t>
            </a: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3.Представления</a:t>
            </a: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4.Анализаторы</a:t>
            </a: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5.Средства оповещения(в ба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зовой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версии</a:t>
            </a: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это сообщение в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telegram</a:t>
            </a: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 того, насколько хорошо пользователь подойдёт к настройке своей системы, будет зависеть её эффективность – пользователи смогут публиковать свои расширения, чтобы дургие могли применять разработанные подходы</a:t>
            </a:r>
          </a:p>
          <a:p>
            <a:endParaRPr lang="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Безопасность сети в целом, нужно обеспечивать за счёт обеспечения безопасности на конкретных узлах(локально).</a:t>
            </a:r>
          </a:p>
          <a:p>
            <a:endParaRPr lang="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947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2814-7291-3EFB-4C4F-49A28E0D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5F854-53A4-8F0F-6151-A2D3FC9E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94037"/>
          </a:xfrm>
        </p:spPr>
        <p:txBody>
          <a:bodyPr/>
          <a:lstStyle/>
          <a:p>
            <a:pPr algn="ctr"/>
            <a:r>
              <a:rPr lang="ru-RU" dirty="0"/>
              <a:t>Что дальше?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BEAFA-1131-C427-6A10-2AF9B3452082}"/>
              </a:ext>
            </a:extLst>
          </p:cNvPr>
          <p:cNvSpPr txBox="1"/>
          <p:nvPr/>
        </p:nvSpPr>
        <p:spPr>
          <a:xfrm>
            <a:off x="901337" y="1452140"/>
            <a:ext cx="103893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Дополнительно в дипломной работе рассмотрены теоретические способы анализа периферийный устройств, что потенциально позволит детектировать «аномальные» изменения в поведении, не только на макроуровне(как в реализации), но и на микроуровне – можно будет анализировать эмоциональное состояние человека-пользователя, отличить реального владельца от взломщика</a:t>
            </a:r>
            <a:r>
              <a:rPr lang="en-US" dirty="0"/>
              <a:t>/</a:t>
            </a:r>
            <a:r>
              <a:rPr lang="ru-RU" dirty="0"/>
              <a:t>вора.</a:t>
            </a: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большая область для дальнейшего исследования – и она отлично интегрируется в полученную реализацию.</a:t>
            </a: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Систему нужно довести до того состояния, чтобы продвинутые пользователи могли не только оценить её мощь, но и расширять под свои нужды.</a:t>
            </a:r>
            <a:endParaRPr lang="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805076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Custom 10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465359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 design_Win32_SL_V15" id="{2701BB1F-F316-4B75-9491-9CBB0D27A737}" vid="{567D41FF-711B-46C9-BAF2-A20952F37F9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26303C-A89C-422C-9097-BDF7002EFC54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71af3243-3dd4-4a8d-8c0d-dd76da1f02a5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1403</Words>
  <Application>Microsoft Office PowerPoint</Application>
  <PresentationFormat>Широкоэкранный</PresentationFormat>
  <Paragraphs>143</Paragraphs>
  <Slides>25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Times New Roman</vt:lpstr>
      <vt:lpstr>Wingdings 2</vt:lpstr>
      <vt:lpstr>ДивидендVTI</vt:lpstr>
      <vt:lpstr>Обнаружение аномальной активности в сети на основе анализа статистических отклонений в работе системы</vt:lpstr>
      <vt:lpstr>План </vt:lpstr>
      <vt:lpstr>Презентация PowerPoint</vt:lpstr>
      <vt:lpstr>2.Реализация IDS анализатора на C#</vt:lpstr>
      <vt:lpstr>Описание Анализатора</vt:lpstr>
      <vt:lpstr>Алгоритм распределения весов</vt:lpstr>
      <vt:lpstr>Алгоритм распределения весов</vt:lpstr>
      <vt:lpstr>Оценка качества анализатора</vt:lpstr>
      <vt:lpstr>Презентация PowerPoint</vt:lpstr>
      <vt:lpstr>3.Проверка на базе TelecomX</vt:lpstr>
      <vt:lpstr>Пример: как менялся уровень доверия пользователя 5828</vt:lpstr>
      <vt:lpstr>Пример: как менялся уровень доверия пользователя 5828</vt:lpstr>
      <vt:lpstr>Итог: TelecomX</vt:lpstr>
      <vt:lpstr>Что дальше?</vt:lpstr>
      <vt:lpstr>4.Реализация IDS системы(Модель данных)</vt:lpstr>
      <vt:lpstr>4.Реализация IDS системы(Модель данных)</vt:lpstr>
      <vt:lpstr>4.Реализация IDS системы(Сервис представлений)</vt:lpstr>
      <vt:lpstr>4.Реализация IDS системы(Интерфейс)</vt:lpstr>
      <vt:lpstr>4.Реализация IDS системы(Интерфейс)</vt:lpstr>
      <vt:lpstr>4.Реализация IDS системы(Интерфейс)</vt:lpstr>
      <vt:lpstr>4.Реализация IDS системы(Интерфейс)</vt:lpstr>
      <vt:lpstr>4.Реализация IDS системы(Интерфейс)</vt:lpstr>
      <vt:lpstr>4.Реализация IDS системы(Интерфейс)</vt:lpstr>
      <vt:lpstr>Итог</vt:lpstr>
      <vt:lpstr>Что дальше?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2023-12-10T17:10:56Z</dcterms:created>
  <dcterms:modified xsi:type="dcterms:W3CDTF">2025-12-16T19:42:22Z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