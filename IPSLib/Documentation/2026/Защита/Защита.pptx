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762" r:id="rId4"/>
  </p:sldMasterIdLst>
  <p:notesMasterIdLst>
    <p:notesMasterId r:id="rId32"/>
  </p:notesMasterIdLst>
  <p:handoutMasterIdLst>
    <p:handoutMasterId r:id="rId33"/>
  </p:handoutMasterIdLst>
  <p:sldIdLst>
    <p:sldId id="256" r:id="rId5"/>
    <p:sldId id="292" r:id="rId6"/>
    <p:sldId id="293" r:id="rId7"/>
    <p:sldId id="340" r:id="rId8"/>
    <p:sldId id="283" r:id="rId9"/>
    <p:sldId id="322" r:id="rId10"/>
    <p:sldId id="301" r:id="rId11"/>
    <p:sldId id="304" r:id="rId12"/>
    <p:sldId id="310" r:id="rId13"/>
    <p:sldId id="319" r:id="rId14"/>
    <p:sldId id="328" r:id="rId15"/>
    <p:sldId id="330" r:id="rId16"/>
    <p:sldId id="341" r:id="rId17"/>
    <p:sldId id="342" r:id="rId18"/>
    <p:sldId id="329" r:id="rId19"/>
    <p:sldId id="332" r:id="rId20"/>
    <p:sldId id="334" r:id="rId21"/>
    <p:sldId id="335" r:id="rId22"/>
    <p:sldId id="336" r:id="rId23"/>
    <p:sldId id="337" r:id="rId24"/>
    <p:sldId id="320" r:id="rId25"/>
    <p:sldId id="339" r:id="rId26"/>
    <p:sldId id="324" r:id="rId27"/>
    <p:sldId id="325" r:id="rId28"/>
    <p:sldId id="323" r:id="rId29"/>
    <p:sldId id="326" r:id="rId30"/>
    <p:sldId id="327" r:id="rId31"/>
  </p:sldIdLst>
  <p:sldSz cx="12192000" cy="6858000"/>
  <p:notesSz cx="6858000" cy="9144000"/>
  <p:defaultTextStyle>
    <a:defPPr rtl="0">
      <a:defRPr lang="ru-R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Автор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5359"/>
    <a:srgbClr val="969F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Светлый стиль 3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89728" autoAdjust="0"/>
  </p:normalViewPr>
  <p:slideViewPr>
    <p:cSldViewPr snapToGrid="0" showGuides="1">
      <p:cViewPr varScale="1">
        <p:scale>
          <a:sx n="102" d="100"/>
          <a:sy n="102" d="100"/>
        </p:scale>
        <p:origin x="942" y="96"/>
      </p:cViewPr>
      <p:guideLst/>
    </p:cSldViewPr>
  </p:slideViewPr>
  <p:outlineViewPr>
    <p:cViewPr>
      <p:scale>
        <a:sx n="33" d="100"/>
        <a:sy n="33" d="100"/>
      </p:scale>
      <p:origin x="0" y="-498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82" d="100"/>
          <a:sy n="82" d="100"/>
        </p:scale>
        <p:origin x="3936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B4C3C3A6-B337-4D83-9CDB-B9C35780FF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1C79A68-3D73-4695-8C1E-3CDBCB536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0B70564-6F9F-430C-A278-C3C05BB2F2AC}" type="datetime1">
              <a:rPr lang="ru-RU" smtClean="0"/>
              <a:t>22.01.2026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CF5045C-A7CE-41D4-85C5-0E9ACEEF9B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59ABD0F-F8EA-4B9F-8647-FC7D4AE3D8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4AB78DD-9481-4863-BCCC-946573546DA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50403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B9F4D3-4D0E-4573-BAC5-4FE41B844CA6}" type="datetime1">
              <a:rPr lang="ru-RU" smtClean="0"/>
              <a:pPr/>
              <a:t>22.01.2026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63359F2-43EF-4812-9DC0-98C0B1A40681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70111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63359F2-43EF-4812-9DC0-98C0B1A40681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83523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63359F2-43EF-4812-9DC0-98C0B1A40681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2850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63359F2-43EF-4812-9DC0-98C0B1A40681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07043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663CC-C10E-0888-789E-C48111428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DD1589F-57B4-506C-F400-2550DB479B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47A9027-9D50-6D53-3EC6-23C08E17C7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8FC40C4-8D07-6292-53A0-1756B5EF39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63359F2-43EF-4812-9DC0-98C0B1A40681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10134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63359F2-43EF-4812-9DC0-98C0B1A40681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70271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63359F2-43EF-4812-9DC0-98C0B1A40681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692761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63359F2-43EF-4812-9DC0-98C0B1A40681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50627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63359F2-43EF-4812-9DC0-98C0B1A40681}" type="slidenum">
              <a:rPr lang="ru-RU" noProof="0" smtClean="0"/>
              <a:t>22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625151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31937252-EACE-4232-855F-5C47E3F8B0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1070901"/>
            <a:ext cx="11265407" cy="1499616"/>
          </a:xfrm>
        </p:spPr>
        <p:txBody>
          <a:bodyPr rtlCol="0">
            <a:noAutofit/>
          </a:bodyPr>
          <a:lstStyle>
            <a:lvl1pPr>
              <a:defRPr/>
            </a:lvl1pPr>
          </a:lstStyle>
          <a:p>
            <a:pPr rtl="0"/>
            <a:r>
              <a:rPr lang="ru" dirty="0"/>
              <a:t>Заголовок слайда</a:t>
            </a:r>
          </a:p>
        </p:txBody>
      </p:sp>
      <p:sp>
        <p:nvSpPr>
          <p:cNvPr id="25" name="Рисунок 24">
            <a:extLst>
              <a:ext uri="{FF2B5EF4-FFF2-40B4-BE49-F238E27FC236}">
                <a16:creationId xmlns:a16="http://schemas.microsoft.com/office/drawing/2014/main" id="{CBA6DBC1-39A1-48A6-8B81-3CD966D06E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8055" y="3103684"/>
            <a:ext cx="11274551" cy="3287971"/>
          </a:xfrm>
          <a:solidFill>
            <a:schemeClr val="accent2"/>
          </a:solidFill>
        </p:spPr>
        <p:txBody>
          <a:bodyPr rtlCol="0" anchor="t" anchorCtr="0">
            <a:norm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ru" dirty="0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3425283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6926BD44-2224-46FF-A4E7-9C9FFE197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40079"/>
            <a:ext cx="3657600" cy="2100851"/>
          </a:xfrm>
        </p:spPr>
        <p:txBody>
          <a:bodyPr rtlCol="0">
            <a:noAutofit/>
          </a:bodyPr>
          <a:lstStyle>
            <a:lvl1pPr>
              <a:defRPr/>
            </a:lvl1pPr>
          </a:lstStyle>
          <a:p>
            <a:pPr rtl="0"/>
            <a:endParaRPr lang="ru-RU" noProof="0" dirty="0"/>
          </a:p>
        </p:txBody>
      </p:sp>
      <p:sp>
        <p:nvSpPr>
          <p:cNvPr id="2" name="Объект 5">
            <a:extLst>
              <a:ext uri="{FF2B5EF4-FFF2-40B4-BE49-F238E27FC236}">
                <a16:creationId xmlns:a16="http://schemas.microsoft.com/office/drawing/2014/main" id="{FC87D77D-2EA4-028B-1ACF-E1120CE8F0E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7201" y="2862470"/>
            <a:ext cx="3657600" cy="3510898"/>
          </a:xfrm>
        </p:spPr>
        <p:txBody>
          <a:bodyPr rtlCol="0" anchor="t" anchorCtr="0">
            <a:normAutofit/>
          </a:bodyPr>
          <a:lstStyle>
            <a:lvl1pPr marL="0" indent="0">
              <a:buNone/>
              <a:defRPr/>
            </a:lvl1pPr>
          </a:lstStyle>
          <a:p>
            <a:pPr lvl="0" rtl="0"/>
            <a:r>
              <a:rPr lang="ru-RU" noProof="0" dirty="0"/>
              <a:t>Текст слайда 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CCFA45C0-9EBE-13AF-9B5D-9D5F4BF223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42815" y="640080"/>
            <a:ext cx="7491984" cy="5751576"/>
          </a:xfrm>
          <a:custGeom>
            <a:avLst/>
            <a:gdLst>
              <a:gd name="connsiteX0" fmla="*/ 3800341 w 7491984"/>
              <a:gd name="connsiteY0" fmla="*/ 0 h 5751576"/>
              <a:gd name="connsiteX1" fmla="*/ 7491984 w 7491984"/>
              <a:gd name="connsiteY1" fmla="*/ 0 h 5751576"/>
              <a:gd name="connsiteX2" fmla="*/ 7491984 w 7491984"/>
              <a:gd name="connsiteY2" fmla="*/ 5751576 h 5751576"/>
              <a:gd name="connsiteX3" fmla="*/ 3800341 w 7491984"/>
              <a:gd name="connsiteY3" fmla="*/ 5751576 h 5751576"/>
              <a:gd name="connsiteX4" fmla="*/ 0 w 7491984"/>
              <a:gd name="connsiteY4" fmla="*/ 0 h 5751576"/>
              <a:gd name="connsiteX5" fmla="*/ 3696432 w 7491984"/>
              <a:gd name="connsiteY5" fmla="*/ 0 h 5751576"/>
              <a:gd name="connsiteX6" fmla="*/ 3696432 w 7491984"/>
              <a:gd name="connsiteY6" fmla="*/ 5751576 h 5751576"/>
              <a:gd name="connsiteX7" fmla="*/ 0 w 7491984"/>
              <a:gd name="connsiteY7" fmla="*/ 5751576 h 575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91984" h="5751576">
                <a:moveTo>
                  <a:pt x="3800341" y="0"/>
                </a:moveTo>
                <a:lnTo>
                  <a:pt x="7491984" y="0"/>
                </a:lnTo>
                <a:lnTo>
                  <a:pt x="7491984" y="5751576"/>
                </a:lnTo>
                <a:lnTo>
                  <a:pt x="3800341" y="5751576"/>
                </a:lnTo>
                <a:close/>
                <a:moveTo>
                  <a:pt x="0" y="0"/>
                </a:moveTo>
                <a:lnTo>
                  <a:pt x="3696432" y="0"/>
                </a:lnTo>
                <a:lnTo>
                  <a:pt x="3696432" y="5751576"/>
                </a:lnTo>
                <a:lnTo>
                  <a:pt x="0" y="575157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rtlCol="0" anchor="t" anchorCtr="0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ru-RU" noProof="0" dirty="0"/>
              <a:t>Щелкните, чтобы добавить рисунок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D5DDC5FA-EEDB-898F-533E-4094ADA899B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r>
              <a:rPr lang="ru-RU" noProof="0" dirty="0"/>
              <a:t>20ГГ</a:t>
            </a:r>
          </a:p>
        </p:txBody>
      </p:sp>
      <p:sp>
        <p:nvSpPr>
          <p:cNvPr id="12" name="Нижний колонтитул 11">
            <a:extLst>
              <a:ext uri="{FF2B5EF4-FFF2-40B4-BE49-F238E27FC236}">
                <a16:creationId xmlns:a16="http://schemas.microsoft.com/office/drawing/2014/main" id="{E79B0359-4B55-D899-E584-A8E6B2ED912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6B916D02-76FE-EAED-CC51-A50448811F7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82289" y="6423914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888979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рыв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6E787D40-90B5-470E-95A2-784F1CB479C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9580" y="4423702"/>
            <a:ext cx="11292839" cy="1550378"/>
          </a:xfrm>
        </p:spPr>
        <p:txBody>
          <a:bodyPr rtlCol="0">
            <a:noAutofit/>
          </a:bodyPr>
          <a:lstStyle>
            <a:lvl1pPr algn="ctr">
              <a:defRPr/>
            </a:lvl1pPr>
          </a:lstStyle>
          <a:p>
            <a:pPr rtl="0"/>
            <a:r>
              <a:rPr lang="ru"/>
              <a:t>Заголовок слайда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528BC27-38F1-47F3-EC35-7DD8B88A753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9580" y="705104"/>
            <a:ext cx="11292840" cy="3643376"/>
          </a:xfrm>
          <a:custGeom>
            <a:avLst/>
            <a:gdLst>
              <a:gd name="connsiteX0" fmla="*/ 7593576 w 11292840"/>
              <a:gd name="connsiteY0" fmla="*/ 0 h 3643376"/>
              <a:gd name="connsiteX1" fmla="*/ 11292840 w 11292840"/>
              <a:gd name="connsiteY1" fmla="*/ 0 h 3643376"/>
              <a:gd name="connsiteX2" fmla="*/ 11292840 w 11292840"/>
              <a:gd name="connsiteY2" fmla="*/ 3643376 h 3643376"/>
              <a:gd name="connsiteX3" fmla="*/ 7593576 w 11292840"/>
              <a:gd name="connsiteY3" fmla="*/ 3643376 h 3643376"/>
              <a:gd name="connsiteX4" fmla="*/ 0 w 11292840"/>
              <a:gd name="connsiteY4" fmla="*/ 0 h 3643376"/>
              <a:gd name="connsiteX5" fmla="*/ 7489667 w 11292840"/>
              <a:gd name="connsiteY5" fmla="*/ 0 h 3643376"/>
              <a:gd name="connsiteX6" fmla="*/ 7489667 w 11292840"/>
              <a:gd name="connsiteY6" fmla="*/ 3643376 h 3643376"/>
              <a:gd name="connsiteX7" fmla="*/ 0 w 11292840"/>
              <a:gd name="connsiteY7" fmla="*/ 3643376 h 3643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92840" h="3643376">
                <a:moveTo>
                  <a:pt x="7593576" y="0"/>
                </a:moveTo>
                <a:lnTo>
                  <a:pt x="11292840" y="0"/>
                </a:lnTo>
                <a:lnTo>
                  <a:pt x="11292840" y="3643376"/>
                </a:lnTo>
                <a:lnTo>
                  <a:pt x="7593576" y="3643376"/>
                </a:lnTo>
                <a:close/>
                <a:moveTo>
                  <a:pt x="0" y="0"/>
                </a:moveTo>
                <a:lnTo>
                  <a:pt x="7489667" y="0"/>
                </a:lnTo>
                <a:lnTo>
                  <a:pt x="7489667" y="3643376"/>
                </a:lnTo>
                <a:lnTo>
                  <a:pt x="0" y="364337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rtlCol="0" anchor="t">
            <a:noAutofit/>
          </a:bodyPr>
          <a:lstStyle>
            <a:lvl1pPr marL="0" indent="0" algn="ctr">
              <a:buNone/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ru"/>
              <a:t>Щелкните, чтобы добавить рисунок</a:t>
            </a:r>
          </a:p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504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подзаголовок + рисунок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882" y="629920"/>
            <a:ext cx="3606800" cy="2809240"/>
          </a:xfrm>
        </p:spPr>
        <p:txBody>
          <a:bodyPr rtlCol="0" anchor="b">
            <a:noAutofit/>
          </a:bodyPr>
          <a:lstStyle>
            <a:lvl1pPr algn="l">
              <a:defRPr sz="2800"/>
            </a:lvl1pPr>
          </a:lstStyle>
          <a:p>
            <a:pPr rtl="0"/>
            <a:r>
              <a:rPr lang="ru-RU" noProof="0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6881" y="3698240"/>
            <a:ext cx="3606800" cy="2271076"/>
          </a:xfrm>
        </p:spPr>
        <p:txBody>
          <a:bodyPr rtlCol="0" anchor="t">
            <a:no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 dirty="0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u-RU" noProof="0" dirty="0"/>
              <a:t>20ГГ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2608" y="6423914"/>
            <a:ext cx="1052510" cy="365125"/>
          </a:xfrm>
        </p:spPr>
        <p:txBody>
          <a:bodyPr rtlCol="0"/>
          <a:lstStyle/>
          <a:p>
            <a:pPr rtl="0"/>
            <a:fld id="{CBD12358-51D2-46B3-9BDE-DF29528B9454}" type="slidenum">
              <a:rPr lang="ru-RU" noProof="0" smtClean="0"/>
              <a:t>‹#›</a:t>
            </a:fld>
            <a:endParaRPr lang="ru-RU" noProof="0" dirty="0"/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454FD2A1-D363-7C44-2A72-54E8B397D3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6720" y="650240"/>
            <a:ext cx="7518398" cy="5713918"/>
          </a:xfrm>
          <a:custGeom>
            <a:avLst/>
            <a:gdLst>
              <a:gd name="connsiteX0" fmla="*/ 3806436 w 7518398"/>
              <a:gd name="connsiteY0" fmla="*/ 4479475 h 5713918"/>
              <a:gd name="connsiteX1" fmla="*/ 7518398 w 7518398"/>
              <a:gd name="connsiteY1" fmla="*/ 4479475 h 5713918"/>
              <a:gd name="connsiteX2" fmla="*/ 7518398 w 7518398"/>
              <a:gd name="connsiteY2" fmla="*/ 5713918 h 5713918"/>
              <a:gd name="connsiteX3" fmla="*/ 3806436 w 7518398"/>
              <a:gd name="connsiteY3" fmla="*/ 5713918 h 5713918"/>
              <a:gd name="connsiteX4" fmla="*/ 0 w 7518398"/>
              <a:gd name="connsiteY4" fmla="*/ 4479475 h 5713918"/>
              <a:gd name="connsiteX5" fmla="*/ 3702527 w 7518398"/>
              <a:gd name="connsiteY5" fmla="*/ 4479475 h 5713918"/>
              <a:gd name="connsiteX6" fmla="*/ 3702527 w 7518398"/>
              <a:gd name="connsiteY6" fmla="*/ 5713918 h 5713918"/>
              <a:gd name="connsiteX7" fmla="*/ 0 w 7518398"/>
              <a:gd name="connsiteY7" fmla="*/ 5713918 h 5713918"/>
              <a:gd name="connsiteX8" fmla="*/ 3806436 w 7518398"/>
              <a:gd name="connsiteY8" fmla="*/ 0 h 5713918"/>
              <a:gd name="connsiteX9" fmla="*/ 7518398 w 7518398"/>
              <a:gd name="connsiteY9" fmla="*/ 0 h 5713918"/>
              <a:gd name="connsiteX10" fmla="*/ 7518398 w 7518398"/>
              <a:gd name="connsiteY10" fmla="*/ 4379183 h 5713918"/>
              <a:gd name="connsiteX11" fmla="*/ 3806436 w 7518398"/>
              <a:gd name="connsiteY11" fmla="*/ 4379183 h 5713918"/>
              <a:gd name="connsiteX12" fmla="*/ 0 w 7518398"/>
              <a:gd name="connsiteY12" fmla="*/ 0 h 5713918"/>
              <a:gd name="connsiteX13" fmla="*/ 3702527 w 7518398"/>
              <a:gd name="connsiteY13" fmla="*/ 0 h 5713918"/>
              <a:gd name="connsiteX14" fmla="*/ 3702527 w 7518398"/>
              <a:gd name="connsiteY14" fmla="*/ 4379183 h 5713918"/>
              <a:gd name="connsiteX15" fmla="*/ 0 w 7518398"/>
              <a:gd name="connsiteY15" fmla="*/ 4379183 h 5713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518398" h="5713918">
                <a:moveTo>
                  <a:pt x="3806436" y="4479475"/>
                </a:moveTo>
                <a:lnTo>
                  <a:pt x="7518398" y="4479475"/>
                </a:lnTo>
                <a:lnTo>
                  <a:pt x="7518398" y="5713918"/>
                </a:lnTo>
                <a:lnTo>
                  <a:pt x="3806436" y="5713918"/>
                </a:lnTo>
                <a:close/>
                <a:moveTo>
                  <a:pt x="0" y="4479475"/>
                </a:moveTo>
                <a:lnTo>
                  <a:pt x="3702527" y="4479475"/>
                </a:lnTo>
                <a:lnTo>
                  <a:pt x="3702527" y="5713918"/>
                </a:lnTo>
                <a:lnTo>
                  <a:pt x="0" y="5713918"/>
                </a:lnTo>
                <a:close/>
                <a:moveTo>
                  <a:pt x="3806436" y="0"/>
                </a:moveTo>
                <a:lnTo>
                  <a:pt x="7518398" y="0"/>
                </a:lnTo>
                <a:lnTo>
                  <a:pt x="7518398" y="4379183"/>
                </a:lnTo>
                <a:lnTo>
                  <a:pt x="3806436" y="4379183"/>
                </a:lnTo>
                <a:close/>
                <a:moveTo>
                  <a:pt x="0" y="0"/>
                </a:moveTo>
                <a:lnTo>
                  <a:pt x="3702527" y="0"/>
                </a:lnTo>
                <a:lnTo>
                  <a:pt x="3702527" y="4379183"/>
                </a:lnTo>
                <a:lnTo>
                  <a:pt x="0" y="437918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rtlCol="0" anchor="t">
            <a:noAutofit/>
          </a:bodyPr>
          <a:lstStyle/>
          <a:p>
            <a:pPr rt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416037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ведение (низ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F9CC542F-D03C-4537-9B6E-7F653B6515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878091"/>
            <a:ext cx="3729789" cy="3440485"/>
          </a:xfrm>
        </p:spPr>
        <p:txBody>
          <a:bodyPr tIns="182880" bIns="182880" rtlCol="0" anchor="ctr" anchorCtr="0">
            <a:noAutofit/>
          </a:bodyPr>
          <a:lstStyle/>
          <a:p>
            <a:pPr rtl="0"/>
            <a:r>
              <a:rPr lang="ru-RU" noProof="0" dirty="0"/>
              <a:t>Заголовок слайда</a:t>
            </a:r>
            <a:endParaRPr lang="ru-RU" noProof="0" dirty="0">
              <a:solidFill>
                <a:schemeClr val="tx2"/>
              </a:solidFill>
            </a:endParaRP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30F1D2B-CBE7-6279-2158-7A9F3B5D5C6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57200" y="670560"/>
            <a:ext cx="11267440" cy="2139696"/>
          </a:xfrm>
          <a:custGeom>
            <a:avLst/>
            <a:gdLst>
              <a:gd name="connsiteX0" fmla="*/ 3783068 w 11267440"/>
              <a:gd name="connsiteY0" fmla="*/ 0 h 2139696"/>
              <a:gd name="connsiteX1" fmla="*/ 11267440 w 11267440"/>
              <a:gd name="connsiteY1" fmla="*/ 0 h 2139696"/>
              <a:gd name="connsiteX2" fmla="*/ 11267440 w 11267440"/>
              <a:gd name="connsiteY2" fmla="*/ 2139696 h 2139696"/>
              <a:gd name="connsiteX3" fmla="*/ 3783068 w 11267440"/>
              <a:gd name="connsiteY3" fmla="*/ 2139696 h 2139696"/>
              <a:gd name="connsiteX4" fmla="*/ 0 w 11267440"/>
              <a:gd name="connsiteY4" fmla="*/ 0 h 2139696"/>
              <a:gd name="connsiteX5" fmla="*/ 3677799 w 11267440"/>
              <a:gd name="connsiteY5" fmla="*/ 0 h 2139696"/>
              <a:gd name="connsiteX6" fmla="*/ 3677799 w 11267440"/>
              <a:gd name="connsiteY6" fmla="*/ 2139696 h 2139696"/>
              <a:gd name="connsiteX7" fmla="*/ 0 w 11267440"/>
              <a:gd name="connsiteY7" fmla="*/ 2139696 h 2139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67440" h="2139696">
                <a:moveTo>
                  <a:pt x="3783068" y="0"/>
                </a:moveTo>
                <a:lnTo>
                  <a:pt x="11267440" y="0"/>
                </a:lnTo>
                <a:lnTo>
                  <a:pt x="11267440" y="2139696"/>
                </a:lnTo>
                <a:lnTo>
                  <a:pt x="3783068" y="2139696"/>
                </a:lnTo>
                <a:close/>
                <a:moveTo>
                  <a:pt x="0" y="0"/>
                </a:moveTo>
                <a:lnTo>
                  <a:pt x="3677799" y="0"/>
                </a:lnTo>
                <a:lnTo>
                  <a:pt x="3677799" y="2139696"/>
                </a:lnTo>
                <a:lnTo>
                  <a:pt x="0" y="213969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rtlCol="0" anchor="t" anchorCtr="0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ru-RU" noProof="0" dirty="0"/>
              <a:t>Щелкните, чтобы добавить рисунок</a:t>
            </a:r>
          </a:p>
        </p:txBody>
      </p:sp>
      <p:sp>
        <p:nvSpPr>
          <p:cNvPr id="7" name="Объект 5">
            <a:extLst>
              <a:ext uri="{FF2B5EF4-FFF2-40B4-BE49-F238E27FC236}">
                <a16:creationId xmlns:a16="http://schemas.microsoft.com/office/drawing/2014/main" id="{135EE74D-5A60-B83C-5C2D-7B6FEA778FCB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05827" y="2878091"/>
            <a:ext cx="7418813" cy="3440485"/>
          </a:xfrm>
        </p:spPr>
        <p:txBody>
          <a:bodyPr rtlCol="0" anchor="ctr" anchorCtr="0">
            <a:normAutofit/>
          </a:bodyPr>
          <a:lstStyle>
            <a:lvl1pPr marL="283464" indent="-283464">
              <a:buFont typeface="Arial" panose="020B0604020202020204" pitchFamily="34" charset="0"/>
              <a:buChar char="•"/>
              <a:defRPr/>
            </a:lvl1pPr>
            <a:lvl2pPr marL="283464" indent="-283464">
              <a:buFont typeface="Arial" panose="020B0604020202020204" pitchFamily="34" charset="0"/>
              <a:buChar char="•"/>
              <a:defRPr/>
            </a:lvl2pPr>
            <a:lvl3pPr marL="283464" indent="-283464">
              <a:buFont typeface="Arial" panose="020B0604020202020204" pitchFamily="34" charset="0"/>
              <a:buChar char="•"/>
              <a:defRPr/>
            </a:lvl3pPr>
            <a:lvl4pPr marL="283464" indent="-283464">
              <a:buFont typeface="Arial" panose="020B0604020202020204" pitchFamily="34" charset="0"/>
              <a:buChar char="•"/>
              <a:defRPr/>
            </a:lvl4pPr>
            <a:lvl5pPr marL="283464" indent="-283464">
              <a:buFont typeface="Arial" panose="020B0604020202020204" pitchFamily="34" charset="0"/>
              <a:buChar char="•"/>
              <a:defRPr/>
            </a:lvl5pPr>
          </a:lstStyle>
          <a:p>
            <a:pPr lvl="0" rtl="0"/>
            <a:r>
              <a:rPr lang="ru-RU" noProof="0" dirty="0"/>
              <a:t>Текст слайда 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BCF1FAD-0BAD-2574-3352-B152DF76C15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C328E41-645E-D257-FFF3-93344A8E4FA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 rtlCol="0"/>
          <a:lstStyle/>
          <a:p>
            <a:pPr rtl="0"/>
            <a:r>
              <a:rPr lang="ru-RU" noProof="0" dirty="0"/>
              <a:t>20ГГ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DEF9E45A-6561-C074-14CE-B3B63476D22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0672130" y="6423914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0183149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+ под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43000"/>
            <a:ext cx="9144000" cy="2585720"/>
          </a:xfrm>
        </p:spPr>
        <p:txBody>
          <a:bodyPr rtlCol="0" anchor="b">
            <a:noAutofit/>
          </a:bodyPr>
          <a:lstStyle>
            <a:lvl1pPr algn="ctr">
              <a:defRPr sz="4000"/>
            </a:lvl1pPr>
          </a:lstStyle>
          <a:p>
            <a:pPr rtl="0"/>
            <a:r>
              <a:rPr lang="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99840"/>
            <a:ext cx="9144000" cy="2052320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017254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 содержимого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57200" y="690880"/>
            <a:ext cx="11267440" cy="114300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ru-RU" noProof="0" dirty="0"/>
              <a:t>Заголовок слайда</a:t>
            </a:r>
          </a:p>
        </p:txBody>
      </p:sp>
      <p:sp>
        <p:nvSpPr>
          <p:cNvPr id="9" name="Объект 3">
            <a:extLst>
              <a:ext uri="{FF2B5EF4-FFF2-40B4-BE49-F238E27FC236}">
                <a16:creationId xmlns:a16="http://schemas.microsoft.com/office/drawing/2014/main" id="{ECA520B1-DC84-A47D-1F5E-CCD567EB2D8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57200" y="2187362"/>
            <a:ext cx="3657600" cy="3633047"/>
          </a:xfrm>
        </p:spPr>
        <p:txBody>
          <a:bodyPr rtlCol="0" anchor="t"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914400" indent="-342900">
              <a:buFont typeface="+mj-lt"/>
              <a:buAutoNum type="alphaLcPeriod"/>
              <a:defRPr sz="1800"/>
            </a:lvl2pPr>
            <a:lvl3pPr marL="1371600" indent="-342900">
              <a:buFont typeface="+mj-lt"/>
              <a:buAutoNum type="arabicPeriod"/>
              <a:defRPr sz="1800"/>
            </a:lvl3pPr>
            <a:lvl4pPr marL="1600200" indent="-342900">
              <a:buFont typeface="+mj-lt"/>
              <a:buAutoNum type="alphaLcParenR"/>
              <a:defRPr sz="1800"/>
            </a:lvl4pPr>
            <a:lvl5pPr marL="2057400" indent="-400050">
              <a:buFont typeface="+mj-lt"/>
              <a:buAutoNum type="romanLcPeriod"/>
              <a:defRPr sz="1800"/>
            </a:lvl5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 hasCustomPrompt="1"/>
          </p:nvPr>
        </p:nvSpPr>
        <p:spPr>
          <a:xfrm>
            <a:off x="4282437" y="2187361"/>
            <a:ext cx="7442203" cy="3633047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0">
              <a:defRPr sz="1800"/>
            </a:lvl2pPr>
            <a:lvl3pPr marL="548640">
              <a:defRPr sz="1800"/>
            </a:lvl3pPr>
            <a:lvl4pPr marL="822960">
              <a:defRPr sz="1800"/>
            </a:lvl4pPr>
            <a:lvl5pPr marL="1097280">
              <a:defRPr sz="1800"/>
            </a:lvl5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57200" y="6423914"/>
            <a:ext cx="7041202" cy="365125"/>
          </a:xfrm>
        </p:spPr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u-RU" noProof="0" dirty="0"/>
              <a:t>20XX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16634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967918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 объекта содержимого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57200" y="690880"/>
            <a:ext cx="11267440" cy="114300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ru-RU" noProof="0" dirty="0"/>
              <a:t>Заголовок слайда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 hasCustomPrompt="1"/>
          </p:nvPr>
        </p:nvSpPr>
        <p:spPr>
          <a:xfrm>
            <a:off x="457200" y="2318490"/>
            <a:ext cx="7371083" cy="3633047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0">
              <a:defRPr sz="1800"/>
            </a:lvl2pPr>
            <a:lvl3pPr marL="548640">
              <a:defRPr sz="1800"/>
            </a:lvl3pPr>
            <a:lvl4pPr marL="822960">
              <a:defRPr sz="1800"/>
            </a:lvl4pPr>
            <a:lvl5pPr marL="1097280">
              <a:defRPr sz="1800"/>
            </a:lvl5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9" name="Объект 3">
            <a:extLst>
              <a:ext uri="{FF2B5EF4-FFF2-40B4-BE49-F238E27FC236}">
                <a16:creationId xmlns:a16="http://schemas.microsoft.com/office/drawing/2014/main" id="{8E6EDC6B-B9AA-A4D9-A782-C38A0F84F63F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993378" y="2318490"/>
            <a:ext cx="3731262" cy="3633047"/>
          </a:xfrm>
        </p:spPr>
        <p:txBody>
          <a:bodyPr rtlCol="0" anchor="t">
            <a:normAutofit/>
          </a:bodyPr>
          <a:lstStyle>
            <a:lvl1pPr marL="0" indent="-342900">
              <a:buFont typeface="+mj-lt"/>
              <a:buAutoNum type="arabicPeriod"/>
              <a:defRPr sz="1800"/>
            </a:lvl1pPr>
            <a:lvl2pPr marL="914400" indent="-342900">
              <a:buFont typeface="+mj-lt"/>
              <a:buAutoNum type="alphaLcPeriod"/>
              <a:defRPr sz="1800"/>
            </a:lvl2pPr>
            <a:lvl3pPr marL="1371600" indent="-342900">
              <a:buFont typeface="+mj-lt"/>
              <a:buAutoNum type="arabicPeriod"/>
              <a:defRPr sz="1800"/>
            </a:lvl3pPr>
            <a:lvl4pPr marL="1600200" indent="-342900">
              <a:buFont typeface="+mj-lt"/>
              <a:buAutoNum type="alphaLcParenR"/>
              <a:defRPr sz="1800"/>
            </a:lvl4pPr>
            <a:lvl5pPr marL="2057400" indent="-400050">
              <a:buFont typeface="+mj-lt"/>
              <a:buAutoNum type="romanLcPeriod"/>
              <a:defRPr sz="1800"/>
            </a:lvl5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57200" y="6423914"/>
            <a:ext cx="7041202" cy="365125"/>
          </a:xfrm>
        </p:spPr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u-RU" noProof="0" dirty="0"/>
              <a:t>20XX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16634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554945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D0F196A1-2430-4797-B656-A38302FAF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51" y="666984"/>
            <a:ext cx="3672970" cy="2125911"/>
          </a:xfrm>
        </p:spPr>
        <p:txBody>
          <a:bodyPr rtlCol="0">
            <a:noAutofit/>
          </a:bodyPr>
          <a:lstStyle>
            <a:lvl1pPr algn="l">
              <a:defRPr/>
            </a:lvl1pPr>
          </a:lstStyle>
          <a:p>
            <a:pPr rtl="0"/>
            <a:endParaRPr lang="ru-RU" noProof="0" dirty="0"/>
          </a:p>
        </p:txBody>
      </p:sp>
      <p:sp>
        <p:nvSpPr>
          <p:cNvPr id="2" name="Объект 5">
            <a:extLst>
              <a:ext uri="{FF2B5EF4-FFF2-40B4-BE49-F238E27FC236}">
                <a16:creationId xmlns:a16="http://schemas.microsoft.com/office/drawing/2014/main" id="{5A0AD703-0A43-5323-CCB2-832D424EF2DB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2151" y="2862479"/>
            <a:ext cx="3672970" cy="3491849"/>
          </a:xfrm>
        </p:spPr>
        <p:txBody>
          <a:bodyPr rtlCol="0" anchor="t" anchorCtr="0">
            <a:normAutofit/>
          </a:bodyPr>
          <a:lstStyle>
            <a:lvl1pPr marL="0" indent="0">
              <a:buNone/>
              <a:defRPr/>
            </a:lvl1pPr>
          </a:lstStyle>
          <a:p>
            <a:pPr lvl="0" rtl="0"/>
            <a:r>
              <a:rPr lang="ru-RU" noProof="0" dirty="0"/>
              <a:t>Текст слайда 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4627B629-9CBE-3ECF-2D88-F07AACD037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31970" y="666985"/>
            <a:ext cx="7497880" cy="5687344"/>
          </a:xfrm>
          <a:custGeom>
            <a:avLst/>
            <a:gdLst>
              <a:gd name="connsiteX0" fmla="*/ 3803282 w 7497880"/>
              <a:gd name="connsiteY0" fmla="*/ 0 h 5687344"/>
              <a:gd name="connsiteX1" fmla="*/ 7497880 w 7497880"/>
              <a:gd name="connsiteY1" fmla="*/ 0 h 5687344"/>
              <a:gd name="connsiteX2" fmla="*/ 7497880 w 7497880"/>
              <a:gd name="connsiteY2" fmla="*/ 4581885 h 5687344"/>
              <a:gd name="connsiteX3" fmla="*/ 3803282 w 7497880"/>
              <a:gd name="connsiteY3" fmla="*/ 4581885 h 5687344"/>
              <a:gd name="connsiteX4" fmla="*/ 0 w 7497880"/>
              <a:gd name="connsiteY4" fmla="*/ 0 h 5687344"/>
              <a:gd name="connsiteX5" fmla="*/ 3699373 w 7497880"/>
              <a:gd name="connsiteY5" fmla="*/ 0 h 5687344"/>
              <a:gd name="connsiteX6" fmla="*/ 3699373 w 7497880"/>
              <a:gd name="connsiteY6" fmla="*/ 4581885 h 5687344"/>
              <a:gd name="connsiteX7" fmla="*/ 2 w 7497880"/>
              <a:gd name="connsiteY7" fmla="*/ 4581885 h 5687344"/>
              <a:gd name="connsiteX8" fmla="*/ 2 w 7497880"/>
              <a:gd name="connsiteY8" fmla="*/ 4679200 h 5687344"/>
              <a:gd name="connsiteX9" fmla="*/ 3699373 w 7497880"/>
              <a:gd name="connsiteY9" fmla="*/ 4679200 h 5687344"/>
              <a:gd name="connsiteX10" fmla="*/ 3699373 w 7497880"/>
              <a:gd name="connsiteY10" fmla="*/ 5679350 h 5687344"/>
              <a:gd name="connsiteX11" fmla="*/ 3803282 w 7497880"/>
              <a:gd name="connsiteY11" fmla="*/ 5679350 h 5687344"/>
              <a:gd name="connsiteX12" fmla="*/ 3803282 w 7497880"/>
              <a:gd name="connsiteY12" fmla="*/ 4679200 h 5687344"/>
              <a:gd name="connsiteX13" fmla="*/ 7497880 w 7497880"/>
              <a:gd name="connsiteY13" fmla="*/ 4679200 h 5687344"/>
              <a:gd name="connsiteX14" fmla="*/ 7497880 w 7497880"/>
              <a:gd name="connsiteY14" fmla="*/ 5687344 h 5687344"/>
              <a:gd name="connsiteX15" fmla="*/ 0 w 7497880"/>
              <a:gd name="connsiteY15" fmla="*/ 5687344 h 5687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497880" h="5687344">
                <a:moveTo>
                  <a:pt x="3803282" y="0"/>
                </a:moveTo>
                <a:lnTo>
                  <a:pt x="7497880" y="0"/>
                </a:lnTo>
                <a:lnTo>
                  <a:pt x="7497880" y="4581885"/>
                </a:lnTo>
                <a:lnTo>
                  <a:pt x="3803282" y="4581885"/>
                </a:lnTo>
                <a:close/>
                <a:moveTo>
                  <a:pt x="0" y="0"/>
                </a:moveTo>
                <a:lnTo>
                  <a:pt x="3699373" y="0"/>
                </a:lnTo>
                <a:lnTo>
                  <a:pt x="3699373" y="4581885"/>
                </a:lnTo>
                <a:lnTo>
                  <a:pt x="2" y="4581885"/>
                </a:lnTo>
                <a:lnTo>
                  <a:pt x="2" y="4679200"/>
                </a:lnTo>
                <a:lnTo>
                  <a:pt x="3699373" y="4679200"/>
                </a:lnTo>
                <a:lnTo>
                  <a:pt x="3699373" y="5679350"/>
                </a:lnTo>
                <a:lnTo>
                  <a:pt x="3803282" y="5679350"/>
                </a:lnTo>
                <a:lnTo>
                  <a:pt x="3803282" y="4679200"/>
                </a:lnTo>
                <a:lnTo>
                  <a:pt x="7497880" y="4679200"/>
                </a:lnTo>
                <a:lnTo>
                  <a:pt x="7497880" y="5687344"/>
                </a:lnTo>
                <a:lnTo>
                  <a:pt x="0" y="5687344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rtlCol="0" anchor="t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ru-RU" noProof="0" dirty="0"/>
              <a:t>Щелкните, чтобы добавить рисунок</a:t>
            </a:r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90DD7D93-4C4D-E385-9F8C-40536F0BDEA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ru-RU" noProof="0" dirty="0"/>
              <a:t>20ГГ</a:t>
            </a:r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BC99FA72-244D-9DC3-C9B7-E7DAD50A01F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725A4F6F-66FD-CDA5-7F8F-F5FD6382CFC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677340" y="6423914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982254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04EDE807-0B0D-AB17-AEC5-973B84682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u-RU" noProof="0" dirty="0"/>
              <a:t>20ГГ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4D96F4F-F3DC-87D8-C13D-6619F4CD7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2D73CFE-935B-6D65-59E2-60B4C0A28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307898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ru" dirty="0"/>
              <a:t>Образец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ru" dirty="0"/>
              <a:t>Щелкните, чтобы изменить стили текста образца слайда</a:t>
            </a:r>
          </a:p>
          <a:p>
            <a:pPr lvl="1" rtl="0"/>
            <a:r>
              <a:rPr lang="ru" dirty="0"/>
              <a:t>Второй уровень</a:t>
            </a:r>
          </a:p>
          <a:p>
            <a:pPr lvl="2" rtl="0"/>
            <a:r>
              <a:rPr lang="ru" dirty="0"/>
              <a:t>Третий уровень</a:t>
            </a:r>
          </a:p>
          <a:p>
            <a:pPr lvl="3" rtl="0"/>
            <a:r>
              <a:rPr lang="ru" dirty="0"/>
              <a:t>Четвертый уровень</a:t>
            </a:r>
          </a:p>
          <a:p>
            <a:pPr lvl="4" rtl="0"/>
            <a:r>
              <a:rPr lang="ru" dirty="0"/>
              <a:t>Пятый уровень</a:t>
            </a:r>
            <a:endParaRPr lang="en-US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"/>
              <a:t>20XX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57200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FE284FBA-8100-A68A-E505-8394037280E3}"/>
              </a:ext>
            </a:extLst>
          </p:cNvPr>
          <p:cNvGrpSpPr/>
          <p:nvPr userDrawn="1"/>
        </p:nvGrpSpPr>
        <p:grpSpPr>
          <a:xfrm>
            <a:off x="428696" y="482137"/>
            <a:ext cx="11301155" cy="81191"/>
            <a:chOff x="428696" y="482137"/>
            <a:chExt cx="11301155" cy="81191"/>
          </a:xfrm>
        </p:grpSpPr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33D76077-2232-20C1-A39F-D53FF37F23AD}"/>
                </a:ext>
              </a:extLst>
            </p:cNvPr>
            <p:cNvSpPr/>
            <p:nvPr/>
          </p:nvSpPr>
          <p:spPr>
            <a:xfrm flipV="1">
              <a:off x="428696" y="482137"/>
              <a:ext cx="3703321" cy="81191"/>
            </a:xfrm>
            <a:prstGeom prst="rect">
              <a:avLst/>
            </a:prstGeom>
            <a:solidFill>
              <a:schemeClr val="accent3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23E564DB-C879-75FB-127D-6BEDFDDFE5E9}"/>
                </a:ext>
              </a:extLst>
            </p:cNvPr>
            <p:cNvSpPr/>
            <p:nvPr/>
          </p:nvSpPr>
          <p:spPr>
            <a:xfrm flipV="1">
              <a:off x="4235926" y="482137"/>
              <a:ext cx="3703321" cy="81191"/>
            </a:xfrm>
            <a:prstGeom prst="rect">
              <a:avLst/>
            </a:prstGeom>
            <a:solidFill>
              <a:schemeClr val="accent1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2596683C-B322-4FC1-A3A3-337211F501AE}"/>
                </a:ext>
              </a:extLst>
            </p:cNvPr>
            <p:cNvSpPr/>
            <p:nvPr/>
          </p:nvSpPr>
          <p:spPr>
            <a:xfrm flipV="1">
              <a:off x="8026530" y="482137"/>
              <a:ext cx="3703321" cy="81191"/>
            </a:xfrm>
            <a:prstGeom prst="rect">
              <a:avLst/>
            </a:prstGeom>
            <a:solidFill>
              <a:schemeClr val="accent4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79292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80" r:id="rId3"/>
    <p:sldLayoutId id="2147483797" r:id="rId4"/>
    <p:sldLayoutId id="2147483787" r:id="rId5"/>
    <p:sldLayoutId id="2147483793" r:id="rId6"/>
    <p:sldLayoutId id="2147483766" r:id="rId7"/>
    <p:sldLayoutId id="2147483798" r:id="rId8"/>
    <p:sldLayoutId id="2147483779" r:id="rId9"/>
    <p:sldLayoutId id="2147483769" r:id="rId10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Intrusion+Detection+System&amp;oq=ids+%D1%80%D0%B0%D1%81%D1%88%D0%B8%D1%84%D1%80%D0%BE%D0%B2%D0%BA%D0%B0&amp;gs_lcrp=EgZjaHJvbWUyCQgAEEUYORiABDIICAEQABgWGB4yCAgCEAAYFhgeMggIAxAAGBYYHjIICAQQABgWGB4yCggFEAAYgAQYogQyCggGEAAYgAQYogQyCggHEAAYogQYiQUyCggIEAAYgAQYogTSAQgyOTczajBqMagCCLACAfEFO3NZXrDfesU&amp;sourceid=chrome&amp;ie=UTF-8&amp;ved=2ahUKEwiTtLys6Z2SAxVxzQIHHfzEOF8QgK4QegYIAQgAEAQ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eg"/><Relationship Id="rId13" Type="http://schemas.openxmlformats.org/officeDocument/2006/relationships/image" Target="../media/image38.jpeg"/><Relationship Id="rId3" Type="http://schemas.openxmlformats.org/officeDocument/2006/relationships/image" Target="../media/image3.png"/><Relationship Id="rId7" Type="http://schemas.openxmlformats.org/officeDocument/2006/relationships/image" Target="../media/image32.png"/><Relationship Id="rId12" Type="http://schemas.openxmlformats.org/officeDocument/2006/relationships/image" Target="../media/image3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jpeg"/><Relationship Id="rId9" Type="http://schemas.openxmlformats.org/officeDocument/2006/relationships/image" Target="../media/image34.jpeg"/><Relationship Id="rId1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479F0267-9D1C-BDA9-A152-B01CD379F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3296" y="379334"/>
            <a:ext cx="11265407" cy="1288077"/>
          </a:xfrm>
        </p:spPr>
        <p:txBody>
          <a:bodyPr rtlCol="0"/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Обнаружение аномальной активности в сети на основе анализа статистических отклонений в работе системы</a:t>
            </a:r>
            <a:endParaRPr lang="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445333" y="5270489"/>
            <a:ext cx="35278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Подготовил: студент КБ-6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Сластухин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Антон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4856" y="2188174"/>
            <a:ext cx="2968740" cy="2756687"/>
          </a:xfrm>
          <a:prstGeom prst="rect">
            <a:avLst/>
          </a:prstGeom>
        </p:spPr>
      </p:pic>
      <p:pic>
        <p:nvPicPr>
          <p:cNvPr id="9" name="Picture 8" descr="Анализ сетевого трафика: методы и инструменты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5707" y="2188174"/>
            <a:ext cx="7029598" cy="3082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7FD461B-8D80-9389-2D49-CBD68187FD5B}"/>
              </a:ext>
            </a:extLst>
          </p:cNvPr>
          <p:cNvSpPr txBox="1"/>
          <p:nvPr/>
        </p:nvSpPr>
        <p:spPr>
          <a:xfrm>
            <a:off x="4151166" y="5270489"/>
            <a:ext cx="35278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 руководитель: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Савинов Дмитрий Александрович</a:t>
            </a:r>
          </a:p>
        </p:txBody>
      </p:sp>
      <p:pic>
        <p:nvPicPr>
          <p:cNvPr id="4" name="Picture 2" descr="Новости">
            <a:extLst>
              <a:ext uri="{FF2B5EF4-FFF2-40B4-BE49-F238E27FC236}">
                <a16:creationId xmlns:a16="http://schemas.microsoft.com/office/drawing/2014/main" id="{80E37476-B6CC-B5CF-3322-5ED710B134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36084"/>
            <a:ext cx="1564849" cy="1564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9759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FB23E1E4-7CB2-923B-9D41-672CB85E0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40080"/>
            <a:ext cx="3857348" cy="735960"/>
          </a:xfrm>
        </p:spPr>
        <p:txBody>
          <a:bodyPr rtlCol="0"/>
          <a:lstStyle/>
          <a:p>
            <a:pPr rtl="0"/>
            <a:r>
              <a:rPr lang="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Цели	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1A667A9A-3428-68BE-D555-0DE1859FDF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26381" y="1521942"/>
            <a:ext cx="5077460" cy="3635984"/>
          </a:xfrm>
        </p:spPr>
        <p:txBody>
          <a:bodyPr rtlCol="0">
            <a:normAutofit fontScale="92500" lnSpcReduction="1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1.Изучить подходы для выявления аномальной активности в работе системы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Разработать алгоритм для решения задачи выявления статистических аномалий для произвольного набора данных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3.Спроектировать универсальную платформу для выявления аномальной активности, которая позволить собирать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под различные задачи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4.Реализовать демонстрационную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IDS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систему.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(?)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IDS -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Intrusion</a:t>
            </a:r>
            <a:r>
              <a:rPr lang="ru-RU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ru-RU" sz="1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Detection</a:t>
            </a:r>
            <a:r>
              <a:rPr lang="ru-RU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System</a:t>
            </a:r>
            <a:r>
              <a:rPr lang="ru-RU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(Система Обнаружения Вторжений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/>
          <p:nvPr/>
        </p:nvPicPr>
        <p:blipFill>
          <a:blip r:embed="rId4"/>
          <a:stretch>
            <a:fillRect/>
          </a:stretch>
        </p:blipFill>
        <p:spPr>
          <a:xfrm>
            <a:off x="5420905" y="827405"/>
            <a:ext cx="5077460" cy="5325110"/>
          </a:xfrm>
          <a:prstGeom prst="rect">
            <a:avLst/>
          </a:prstGeom>
        </p:spPr>
      </p:pic>
      <p:pic>
        <p:nvPicPr>
          <p:cNvPr id="5" name="Picture 2" descr="Новости">
            <a:extLst>
              <a:ext uri="{FF2B5EF4-FFF2-40B4-BE49-F238E27FC236}">
                <a16:creationId xmlns:a16="http://schemas.microsoft.com/office/drawing/2014/main" id="{BB45B0E0-DB1B-31B4-C3E8-8C521E5049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16820"/>
            <a:ext cx="984113" cy="984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1125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9">
            <a:extLst>
              <a:ext uri="{FF2B5EF4-FFF2-40B4-BE49-F238E27FC236}">
                <a16:creationId xmlns:a16="http://schemas.microsoft.com/office/drawing/2014/main" id="{C9475E86-FFB0-87BC-084C-C728916152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97786" y="1049905"/>
            <a:ext cx="4639270" cy="1358736"/>
          </a:xfrm>
        </p:spPr>
        <p:txBody>
          <a:bodyPr rtlCol="0">
            <a:normAutofit/>
          </a:bodyPr>
          <a:lstStyle/>
          <a:p>
            <a:pPr marL="0" indent="0"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Традиционным решением являются системы на базе контроля сигнатур. </a:t>
            </a:r>
          </a:p>
          <a:p>
            <a:pPr marL="0" indent="0"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Альтернативой выступает более современный подход, основанный на выявлении аномалий.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51866CF7-69F4-F432-4747-28EF15528DB9}"/>
              </a:ext>
            </a:extLst>
          </p:cNvPr>
          <p:cNvSpPr txBox="1">
            <a:spLocks/>
          </p:cNvSpPr>
          <p:nvPr/>
        </p:nvSpPr>
        <p:spPr>
          <a:xfrm>
            <a:off x="436881" y="629920"/>
            <a:ext cx="4457335" cy="897039"/>
          </a:xfrm>
          <a:prstGeom prst="rect">
            <a:avLst/>
          </a:prstGeom>
        </p:spPr>
        <p:txBody>
          <a:bodyPr vert="horz" lIns="91440" tIns="182880" rIns="91440" bIns="182880" rtlCol="0" anchor="ctr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ru" sz="24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1.Актуальность работы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42BA3B-C25F-174F-0D31-DEB65C4783EB}"/>
              </a:ext>
            </a:extLst>
          </p:cNvPr>
          <p:cNvSpPr txBox="1"/>
          <p:nvPr/>
        </p:nvSpPr>
        <p:spPr>
          <a:xfrm>
            <a:off x="7291397" y="2408641"/>
            <a:ext cx="4645659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 аномалий: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больший обхват, гибкость системы – аномалии адаптируются под каждую конкретную систему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разнообразие подходов к выявлению аномалий</a:t>
            </a:r>
          </a:p>
          <a:p>
            <a:pPr lvl="0"/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Недостатки: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ложные срабатывания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злоумышленник может подстроиться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некоторых случаях, анализ аномалий оказывается ресурсоёмким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3C9861-4461-C267-F2D5-932CA148FEF7}"/>
              </a:ext>
            </a:extLst>
          </p:cNvPr>
          <p:cNvSpPr txBox="1"/>
          <p:nvPr/>
        </p:nvSpPr>
        <p:spPr>
          <a:xfrm>
            <a:off x="7291396" y="5903893"/>
            <a:ext cx="49006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Сластухин А.Ю. «Безопасность подобна личной гигиене, отсутствие которой в недавнем прошлом уничтожало целые армии» - каждый должен следить за ней самостоятельно.</a:t>
            </a:r>
          </a:p>
          <a:p>
            <a:pPr algn="ctr"/>
            <a:endParaRPr lang="ru-RU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E96EC9-C4DF-BDD0-730B-5CAA0E1A6C7B}"/>
              </a:ext>
            </a:extLst>
          </p:cNvPr>
          <p:cNvSpPr txBox="1"/>
          <p:nvPr/>
        </p:nvSpPr>
        <p:spPr>
          <a:xfrm>
            <a:off x="7297786" y="5055519"/>
            <a:ext cx="464565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Моя цель - разработать алгоритм, не слишком требовательный к ресурсам системы.</a:t>
            </a:r>
          </a:p>
          <a:p>
            <a:endParaRPr lang="ru-RU" sz="14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F80421D-2AC7-08C0-2C66-B689BB4AD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517" y="1411548"/>
            <a:ext cx="5484537" cy="5253839"/>
          </a:xfrm>
          <a:prstGeom prst="rect">
            <a:avLst/>
          </a:prstGeom>
        </p:spPr>
      </p:pic>
      <p:pic>
        <p:nvPicPr>
          <p:cNvPr id="8" name="Picture 2" descr="Новости">
            <a:extLst>
              <a:ext uri="{FF2B5EF4-FFF2-40B4-BE49-F238E27FC236}">
                <a16:creationId xmlns:a16="http://schemas.microsoft.com/office/drawing/2014/main" id="{D504B859-4AA3-8827-3491-3FF1BACD8C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16820"/>
            <a:ext cx="984113" cy="984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5820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2B28B-8F18-0D5E-C6E2-3996293FA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1075B103-F4EC-A526-B970-646C6AE4C6BA}"/>
              </a:ext>
            </a:extLst>
          </p:cNvPr>
          <p:cNvSpPr txBox="1">
            <a:spLocks/>
          </p:cNvSpPr>
          <p:nvPr/>
        </p:nvSpPr>
        <p:spPr>
          <a:xfrm>
            <a:off x="0" y="450770"/>
            <a:ext cx="4457335" cy="897039"/>
          </a:xfrm>
          <a:prstGeom prst="rect">
            <a:avLst/>
          </a:prstGeom>
        </p:spPr>
        <p:txBody>
          <a:bodyPr vert="horz" lIns="91440" tIns="182880" rIns="91440" bIns="182880" rtlCol="0" anchor="ctr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ru" sz="24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2.ПОдходы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099482-442B-16FF-EA15-A53ADEBB6B16}"/>
              </a:ext>
            </a:extLst>
          </p:cNvPr>
          <p:cNvSpPr txBox="1"/>
          <p:nvPr/>
        </p:nvSpPr>
        <p:spPr>
          <a:xfrm>
            <a:off x="2032053" y="1214279"/>
            <a:ext cx="10435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работы выделено 2 направления для решения задачи выявления аномалий:</a:t>
            </a:r>
          </a:p>
          <a:p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5B21BD-FEB9-C48A-51D7-C3452172C6B5}"/>
              </a:ext>
            </a:extLst>
          </p:cNvPr>
          <p:cNvSpPr txBox="1"/>
          <p:nvPr/>
        </p:nvSpPr>
        <p:spPr>
          <a:xfrm>
            <a:off x="6512012" y="3534013"/>
            <a:ext cx="543733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2.Анализ непосредственно человеческих параметров – пользователь взаимодействует с системой с помощью устройств периферии. 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 взаимодействие можно рассматривать как «цифровой почерк», по нему можно выявлять особенности конкретного человека.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Например: Анализ клавиатуры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Скорость печати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Частота стираний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Используемая лексика – наличие ошибок, стиль речи</a:t>
            </a:r>
          </a:p>
          <a:p>
            <a:pPr lvl="0"/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Позволяет решать задачи, как макро, так и микро уровня.</a:t>
            </a:r>
          </a:p>
          <a:p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Чем конкретнее результаты, получаемые в рамках анализа, тем выше требования к защите, ведь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некоторых случаях анализируемые данные приближаются к биометрии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2337B9-607B-5DB3-4735-BEEB6D6E05E0}"/>
              </a:ext>
            </a:extLst>
          </p:cNvPr>
          <p:cNvSpPr txBox="1"/>
          <p:nvPr/>
        </p:nvSpPr>
        <p:spPr>
          <a:xfrm>
            <a:off x="566321" y="1653976"/>
            <a:ext cx="5603660" cy="2678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1.Анализ параметров работы системы как таковой</a:t>
            </a:r>
          </a:p>
          <a:p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Например: анализ сетевой активности: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объём передаваемого\получаемого трафика,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число соединений,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конечные точки (с кем ведётся обмен -  использовать информацию от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whois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временные зависимости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Подобные подходы позволяются выполнить 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макроанализ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характеризовать не конкретного человека, а группу таких же, похожих по характеру взаимодействия с системой.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89C20DC-A8A2-4270-85B2-428FC8932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2012" y="1489756"/>
            <a:ext cx="4610856" cy="114599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3D34A74-A51C-131D-445B-0761BA48A1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2012" y="2616198"/>
            <a:ext cx="2056888" cy="812802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6387F96-38C4-6FEF-6E78-F830F7F2E0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321" y="4332303"/>
            <a:ext cx="1743318" cy="1295581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AE30862F-69B8-71A6-77A1-9F43EC8FC1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5960" y="4936014"/>
            <a:ext cx="3124636" cy="1238423"/>
          </a:xfrm>
          <a:prstGeom prst="rect">
            <a:avLst/>
          </a:prstGeom>
        </p:spPr>
      </p:pic>
      <p:pic>
        <p:nvPicPr>
          <p:cNvPr id="17" name="Picture 2" descr="Новости">
            <a:extLst>
              <a:ext uri="{FF2B5EF4-FFF2-40B4-BE49-F238E27FC236}">
                <a16:creationId xmlns:a16="http://schemas.microsoft.com/office/drawing/2014/main" id="{3DC6EDF1-AEB7-C562-ED46-7506FDF5B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16820"/>
            <a:ext cx="984113" cy="984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1978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C903843E-1FAB-AFBB-BDC9-440FCC8CFB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1" y="619218"/>
            <a:ext cx="9144000" cy="605901"/>
          </a:xfrm>
          <a:noFill/>
        </p:spPr>
        <p:txBody>
          <a:bodyPr rtlCol="0"/>
          <a:lstStyle/>
          <a:p>
            <a:r>
              <a:rPr lang="ru" sz="24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3.Реализация 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IDS </a:t>
            </a:r>
            <a:r>
              <a:rPr lang="ru-RU" sz="24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анализатора на 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C#</a:t>
            </a:r>
            <a:endParaRPr lang="ru-RU" sz="240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/>
          <p:nvPr/>
        </p:nvPicPr>
        <p:blipFill>
          <a:blip r:embed="rId3"/>
          <a:stretch>
            <a:fillRect/>
          </a:stretch>
        </p:blipFill>
        <p:spPr>
          <a:xfrm>
            <a:off x="5903651" y="1329390"/>
            <a:ext cx="5854806" cy="274518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1811D78-6025-5D91-5CE7-D4112AA57B12}"/>
              </a:ext>
            </a:extLst>
          </p:cNvPr>
          <p:cNvSpPr txBox="1"/>
          <p:nvPr/>
        </p:nvSpPr>
        <p:spPr>
          <a:xfrm>
            <a:off x="310720" y="1986660"/>
            <a:ext cx="54242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Выделим понятия:</a:t>
            </a:r>
          </a:p>
          <a:p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данных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множество анализируемых характеристик.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работы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значение от 0 до 100, отражающее уровень доверия анализатора к анализируемым данным</a:t>
            </a:r>
          </a:p>
          <a:p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031D519-C6DC-073C-4D16-325B9198A8FB}"/>
                  </a:ext>
                </a:extLst>
              </p:cNvPr>
              <p:cNvSpPr txBox="1"/>
              <p:nvPr/>
            </p:nvSpPr>
            <p:spPr>
              <a:xfrm>
                <a:off x="1524001" y="4178842"/>
                <a:ext cx="10668000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Элементарный анализатор</a:t>
                </a:r>
                <a:r>
                  <a:rPr lang="ru-RU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алгоритм с памятью, оценивающий характеристику.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/>
                        <m:t>𝐹</m:t>
                      </m:r>
                      <m:d>
                        <m:dPr>
                          <m:ctrlPr>
                            <a:rPr lang="ru-RU" sz="1400" i="1"/>
                          </m:ctrlPr>
                        </m:dPr>
                        <m:e>
                          <m:r>
                            <a:rPr lang="en-US" sz="1400" i="1"/>
                            <m:t>𝐻𝑖𝑠𝑡𝑜𝑟𝑦</m:t>
                          </m:r>
                          <m:r>
                            <a:rPr lang="en-US" sz="1400" i="1"/>
                            <m:t>, </m:t>
                          </m:r>
                          <m:r>
                            <a:rPr lang="en-US" sz="1400" i="1"/>
                            <m:t>𝑡</m:t>
                          </m:r>
                          <m:r>
                            <a:rPr lang="en-US" sz="1400" i="1"/>
                            <m:t>,</m:t>
                          </m:r>
                          <m:r>
                            <a:rPr lang="en-US" sz="1400" i="1"/>
                            <m:t>𝑥</m:t>
                          </m:r>
                        </m:e>
                      </m:d>
                      <m:r>
                        <a:rPr lang="en-US" sz="1400" i="1"/>
                        <m:t>→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1400" i="1"/>
                          </m:ctrlPr>
                        </m:dPr>
                        <m:e>
                          <m:r>
                            <a:rPr lang="en-US" sz="1400" i="1"/>
                            <m:t>0, 100</m:t>
                          </m:r>
                        </m:e>
                      </m:d>
                      <m:r>
                        <a:rPr lang="en-US" sz="1400" i="1"/>
                        <m:t>,   </m:t>
                      </m:r>
                      <m:r>
                        <a:rPr lang="en-US" sz="1400" i="1"/>
                        <m:t>𝑡</m:t>
                      </m:r>
                      <m:r>
                        <a:rPr lang="en-US" sz="1400" i="1"/>
                        <m:t>−м</m:t>
                      </m:r>
                      <m:r>
                        <a:rPr lang="ru-RU" sz="1400" i="1"/>
                        <m:t>омент времени,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i="1"/>
                        <m:t>𝑥</m:t>
                      </m:r>
                      <m:r>
                        <a:rPr lang="en-US" sz="1400" i="1"/>
                        <m:t>−</m:t>
                      </m:r>
                      <m:r>
                        <a:rPr lang="ru-RU" sz="1400" i="1"/>
                        <m:t>значение характеристики в момент </m:t>
                      </m:r>
                      <m:r>
                        <a:rPr lang="en-US" sz="1400" i="1"/>
                        <m:t>𝑡</m:t>
                      </m:r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ru-RU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Пример элементарного анализатора</a:t>
                </a:r>
                <a:r>
                  <a:rPr lang="ru-RU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некоторая характеристика х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/>
                        <m:t>𝐻𝑖𝑠𝑡𝑜𝑟</m:t>
                      </m:r>
                      <m:sSub>
                        <m:sSubPr>
                          <m:ctrlPr>
                            <a:rPr lang="ru-RU" sz="1400" i="1"/>
                          </m:ctrlPr>
                        </m:sSubPr>
                        <m:e>
                          <m:r>
                            <a:rPr lang="en-US" sz="1400" i="1"/>
                            <m:t>𝑦</m:t>
                          </m:r>
                        </m:e>
                        <m:sub>
                          <m:r>
                            <a:rPr lang="en-US" sz="1400" i="1"/>
                            <m:t>𝑥</m:t>
                          </m:r>
                        </m:sub>
                      </m:sSub>
                      <m:r>
                        <a:rPr lang="en-US" sz="1400" i="1"/>
                        <m:t>−</m:t>
                      </m:r>
                      <m:r>
                        <a:rPr lang="ru-RU" sz="1400" i="1"/>
                        <m:t>исторические данные по </m:t>
                      </m:r>
                      <m:r>
                        <a:rPr lang="en-US" sz="1400" i="1"/>
                        <m:t>х</m:t>
                      </m:r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ru-RU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i="1"/>
                        <m:t>𝐹</m:t>
                      </m:r>
                      <m:r>
                        <a:rPr lang="en-US" sz="1400" i="1"/>
                        <m:t>(</m:t>
                      </m:r>
                      <m:r>
                        <a:rPr lang="en-US" sz="1400" i="1"/>
                        <m:t>𝐻𝑖𝑠𝑡𝑜𝑟</m:t>
                      </m:r>
                      <m:sSub>
                        <m:sSubPr>
                          <m:ctrlPr>
                            <a:rPr lang="ru-RU" sz="1400" i="1"/>
                          </m:ctrlPr>
                        </m:sSubPr>
                        <m:e>
                          <m:r>
                            <a:rPr lang="en-US" sz="1400" i="1"/>
                            <m:t>𝑦</m:t>
                          </m:r>
                        </m:e>
                        <m:sub>
                          <m:r>
                            <a:rPr lang="en-US" sz="1400" i="1"/>
                            <m:t>𝑥</m:t>
                          </m:r>
                        </m:sub>
                      </m:sSub>
                      <m:r>
                        <a:rPr lang="en-US" sz="1400" i="1"/>
                        <m:t>, </m:t>
                      </m:r>
                      <m:r>
                        <m:rPr>
                          <m:nor/>
                        </m:rP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09:30</m:t>
                      </m:r>
                      <m:r>
                        <a:rPr lang="en-US" sz="1400" i="1"/>
                        <m:t>, </m:t>
                      </m:r>
                      <m:sSub>
                        <m:sSubPr>
                          <m:ctrlPr>
                            <a:rPr lang="ru-RU" sz="1400" i="1"/>
                          </m:ctrlPr>
                        </m:sSubPr>
                        <m:e>
                          <m:r>
                            <a:rPr lang="en-US" sz="1400" i="1"/>
                            <m:t>𝑥</m:t>
                          </m:r>
                        </m:e>
                        <m:sub>
                          <m:r>
                            <a:rPr lang="en-US" sz="1400" i="1"/>
                            <m:t>09:30</m:t>
                          </m:r>
                        </m:sub>
                      </m:sSub>
                      <m:r>
                        <a:rPr lang="en-US" sz="1400" i="1"/>
                        <m:t>)→95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1400" b="0" i="1" smtClean="0">
                          <a:latin typeface="Cambria Math" panose="02040503050406030204" pitchFamily="18" charset="0"/>
                        </a:rPr>
                        <m:t>уровень доверия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ru-RU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ru-RU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Важно понимать, что элементарный анализатор – это просто алгоритм, а смысл ему придаёт конкретная </a:t>
                </a:r>
                <a14:m>
                  <m:oMath xmlns:m="http://schemas.openxmlformats.org/officeDocument/2006/math">
                    <m:r>
                      <a:rPr lang="en-US" sz="1400" i="1"/>
                      <m:t>𝐻𝑖𝑠𝑡𝑜𝑟</m:t>
                    </m:r>
                    <m:sSub>
                      <m:sSubPr>
                        <m:ctrlPr>
                          <a:rPr lang="ru-RU" sz="1400" i="1"/>
                        </m:ctrlPr>
                      </m:sSubPr>
                      <m:e>
                        <m:r>
                          <a:rPr lang="en-US" sz="1400" i="1"/>
                          <m:t>𝑦</m:t>
                        </m:r>
                      </m:e>
                      <m:sub>
                        <m:r>
                          <a:rPr lang="en-US" sz="1400" i="1"/>
                          <m:t>𝑥</m:t>
                        </m:r>
                      </m:sub>
                    </m:sSub>
                  </m:oMath>
                </a14:m>
                <a:r>
                  <a:rPr lang="ru-RU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история наблюдений за характеристикой х.</a:t>
                </a:r>
              </a:p>
              <a:p>
                <a:pPr algn="just"/>
                <a:r>
                  <a:rPr lang="ru-RU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качестве х можно положить 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ram</a:t>
                </a:r>
                <a:r>
                  <a:rPr lang="ru-RU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cpu</a:t>
                </a:r>
                <a:r>
                  <a:rPr lang="ru-RU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_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percent</a:t>
                </a:r>
                <a:r>
                  <a:rPr lang="ru-RU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read</a:t>
                </a:r>
                <a:r>
                  <a:rPr lang="ru-RU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_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bytes</a:t>
                </a:r>
                <a:r>
                  <a:rPr lang="ru-RU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_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count </a:t>
                </a:r>
                <a:r>
                  <a:rPr lang="ru-RU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всё это числовые характеристики.</a:t>
                </a:r>
              </a:p>
              <a:p>
                <a:endParaRPr lang="ru-RU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031D519-C6DC-073C-4D16-325B9198A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1" y="4178842"/>
                <a:ext cx="10668000" cy="2677656"/>
              </a:xfrm>
              <a:prstGeom prst="rect">
                <a:avLst/>
              </a:prstGeom>
              <a:blipFill>
                <a:blip r:embed="rId4"/>
                <a:stretch>
                  <a:fillRect l="-171" t="-456" r="-1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 descr="Новости">
            <a:extLst>
              <a:ext uri="{FF2B5EF4-FFF2-40B4-BE49-F238E27FC236}">
                <a16:creationId xmlns:a16="http://schemas.microsoft.com/office/drawing/2014/main" id="{4CF7BD0A-4892-F8F7-4E3C-4EFEAC1380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16820"/>
            <a:ext cx="984113" cy="984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ACD7249-1298-0659-9462-E85563D5B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8843" y="1532890"/>
            <a:ext cx="5077460" cy="5325110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74A3AEA-F836-A10B-6EBB-F01B0C2065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1" y="619218"/>
            <a:ext cx="9144000" cy="605901"/>
          </a:xfrm>
          <a:noFill/>
        </p:spPr>
        <p:txBody>
          <a:bodyPr rtlCol="0"/>
          <a:lstStyle/>
          <a:p>
            <a:r>
              <a:rPr lang="ru" sz="24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3.Реализация 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IDS </a:t>
            </a:r>
            <a:r>
              <a:rPr lang="ru-RU" sz="24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анализатора на 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C#</a:t>
            </a:r>
            <a:endParaRPr lang="ru-RU" sz="240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F7B44BA6-BDF8-A776-7619-6FB95816D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05697" y="19716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6">
                <a:extLst>
                  <a:ext uri="{FF2B5EF4-FFF2-40B4-BE49-F238E27FC236}">
                    <a16:creationId xmlns:a16="http://schemas.microsoft.com/office/drawing/2014/main" id="{608C4514-17D1-3438-CA43-EAB6F2D8F7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883" y="1388478"/>
                <a:ext cx="6098959" cy="26971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Анализатор</a:t>
                </a:r>
                <a:r>
                  <a:rPr lang="ru-RU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ансамбль из элементарных анализаторов</a:t>
                </a:r>
              </a:p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i="1"/>
                        <m:t>𝐴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1400" i="1"/>
                              </m:ctrlPr>
                            </m:sSubPr>
                            <m:e>
                              <m:r>
                                <a:rPr lang="en-US" sz="1400" i="1"/>
                                <m:t>𝑥</m:t>
                              </m:r>
                            </m:e>
                            <m:sub>
                              <m:r>
                                <a:rPr lang="en-US" sz="1400" i="1"/>
                                <m:t>1</m:t>
                              </m:r>
                            </m:sub>
                          </m:sSub>
                          <m:r>
                            <a:rPr lang="en-US" sz="1400" i="1"/>
                            <m:t>,…,</m:t>
                          </m:r>
                          <m:sSub>
                            <m:sSubPr>
                              <m:ctrlPr>
                                <a:rPr lang="ru-RU" sz="1400" i="1"/>
                              </m:ctrlPr>
                            </m:sSubPr>
                            <m:e>
                              <m:r>
                                <a:rPr lang="en-US" sz="1400" i="1"/>
                                <m:t>𝑥</m:t>
                              </m:r>
                            </m:e>
                            <m:sub>
                              <m:r>
                                <a:rPr lang="en-US" sz="1400" i="1"/>
                                <m:t>𝑛</m:t>
                              </m:r>
                            </m:sub>
                          </m:sSub>
                          <m:r>
                            <a:rPr lang="en-US" sz="1400" i="1"/>
                            <m:t>, </m:t>
                          </m:r>
                          <m:r>
                            <a:rPr lang="en-US" sz="1400" i="1"/>
                            <m:t>𝑡</m:t>
                          </m:r>
                        </m:e>
                      </m:d>
                      <m:r>
                        <a:rPr lang="ru-RU" sz="1400" i="1"/>
                        <m:t>=</m:t>
                      </m:r>
                      <m:r>
                        <a:rPr lang="en-US" sz="1400" i="1"/>
                        <m:t> </m:t>
                      </m:r>
                      <m:nary>
                        <m:naryPr>
                          <m:chr m:val="∑"/>
                          <m:ctrlPr>
                            <a:rPr lang="ru-RU" sz="1400" i="1"/>
                          </m:ctrlPr>
                        </m:naryPr>
                        <m:sub>
                          <m:r>
                            <a:rPr lang="en-US" sz="1400" i="1"/>
                            <m:t>𝑖</m:t>
                          </m:r>
                          <m:r>
                            <a:rPr lang="en-US" sz="1400" i="1"/>
                            <m:t>=1</m:t>
                          </m:r>
                        </m:sub>
                        <m:sup>
                          <m:r>
                            <a:rPr lang="en-US" sz="1400" i="1"/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ru-RU" sz="1400" i="1"/>
                              </m:ctrlPr>
                            </m:sSubPr>
                            <m:e>
                              <m:r>
                                <a:rPr lang="en-US" sz="1400" i="1"/>
                                <m:t>𝐹</m:t>
                              </m:r>
                            </m:e>
                            <m:sub>
                              <m:r>
                                <a:rPr lang="ru-RU" sz="1400" i="1"/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ru-RU" sz="1400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1400" i="1"/>
                                  </m:ctrlPr>
                                </m:sSubPr>
                                <m:e>
                                  <m:r>
                                    <a:rPr lang="en-US" sz="1400" i="1"/>
                                    <m:t>𝐻𝑖𝑠𝑡𝑜𝑟</m:t>
                                  </m:r>
                                  <m:sSub>
                                    <m:sSubPr>
                                      <m:ctrlPr>
                                        <a:rPr lang="ru-RU" sz="1400" i="1"/>
                                      </m:ctrlPr>
                                    </m:sSubPr>
                                    <m:e>
                                      <m:r>
                                        <a:rPr lang="en-US" sz="1400" i="1"/>
                                        <m:t>𝑦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ru-RU" sz="1400" i="1"/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/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1400" i="1"/>
                                            <m:t>𝑖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sz="1400" i="1"/>
                                    <m:t>,</m:t>
                                  </m:r>
                                  <m:r>
                                    <a:rPr lang="en-US" sz="1400" i="1"/>
                                    <m:t>𝑡</m:t>
                                  </m:r>
                                  <m:r>
                                    <a:rPr lang="en-US" sz="1400" i="1"/>
                                    <m:t>,</m:t>
                                  </m:r>
                                  <m:r>
                                    <a:rPr lang="en-US" sz="1400" i="1"/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i="1"/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ru-RU" sz="1400" i="1"/>
                            <m:t> ∗</m:t>
                          </m:r>
                          <m:sSub>
                            <m:sSubPr>
                              <m:ctrlPr>
                                <a:rPr lang="ru-RU" sz="1400" i="1"/>
                              </m:ctrlPr>
                            </m:sSubPr>
                            <m:e>
                              <m:r>
                                <a:rPr lang="en-US" sz="1400" i="1"/>
                                <m:t>𝑤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ru-RU" sz="1400" i="1"/>
                                  </m:ctrlPr>
                                </m:sSubPr>
                                <m:e>
                                  <m:r>
                                    <a:rPr lang="ru-RU" sz="1400" i="1"/>
                                    <m:t>𝐹</m:t>
                                  </m:r>
                                </m:e>
                                <m:sub>
                                  <m:r>
                                    <a:rPr lang="en-US" sz="1400" i="1"/>
                                    <m:t>𝑖</m:t>
                                  </m:r>
                                </m:sub>
                              </m:sSub>
                            </m:sub>
                          </m:sSub>
                        </m:e>
                      </m:nary>
                    </m:oMath>
                  </m:oMathPara>
                </a14:m>
                <a:endParaRPr lang="ru-RU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ru-RU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ходе работы была разработана библиотека на языке 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ru-RU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# для построения анализатора по произвольной модели данных.</a:t>
                </a:r>
              </a:p>
              <a:p>
                <a:endParaRPr lang="ru-RU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библиотеке реализованы различные элементарные анализаторы, алгоритм автоматического подбора весов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400" i="1"/>
                        </m:ctrlPr>
                      </m:sSubPr>
                      <m:e>
                        <m:r>
                          <a:rPr lang="en-US" sz="1400" i="1"/>
                          <m:t>𝑤</m:t>
                        </m:r>
                      </m:e>
                      <m:sub>
                        <m:sSub>
                          <m:sSubPr>
                            <m:ctrlPr>
                              <a:rPr lang="ru-RU" sz="1400" i="1"/>
                            </m:ctrlPr>
                          </m:sSubPr>
                          <m:e>
                            <m:r>
                              <a:rPr lang="ru-RU" sz="1400" i="1"/>
                              <m:t>𝐹</m:t>
                            </m:r>
                          </m:e>
                          <m:sub>
                            <m:r>
                              <a:rPr lang="en-US" sz="1400" i="1"/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u-RU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и вспомогательные элементы.</a:t>
                </a:r>
              </a:p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ru-RU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0" lang="ru-RU" altLang="ru-RU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Rectangle 6">
                <a:extLst>
                  <a:ext uri="{FF2B5EF4-FFF2-40B4-BE49-F238E27FC236}">
                    <a16:creationId xmlns:a16="http://schemas.microsoft.com/office/drawing/2014/main" id="{608C4514-17D1-3438-CA43-EAB6F2D8F7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883" y="1388478"/>
                <a:ext cx="6098959" cy="2697149"/>
              </a:xfrm>
              <a:prstGeom prst="rect">
                <a:avLst/>
              </a:prstGeom>
              <a:blipFill>
                <a:blip r:embed="rId3"/>
                <a:stretch>
                  <a:fillRect l="-3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C5B78310-D283-A1D9-A517-24887EF4A39F}"/>
              </a:ext>
            </a:extLst>
          </p:cNvPr>
          <p:cNvSpPr txBox="1"/>
          <p:nvPr/>
        </p:nvSpPr>
        <p:spPr>
          <a:xfrm>
            <a:off x="1345707" y="4090424"/>
            <a:ext cx="547049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Перед началом работы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необходимо 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1.Определиться с моделью.</a:t>
            </a:r>
          </a:p>
          <a:p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2.По модели сформировать ансамбль. 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 можно сделать в автоматическом режиме, но при желании пользователь может сконфигурировать свой.</a:t>
            </a:r>
          </a:p>
          <a:p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(!) От реализации этих пунктов зависит «правдоподобность» получаемых результатов.</a:t>
            </a:r>
          </a:p>
          <a:p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 творческая задача, требующая индивидуального подхода.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2" descr="Новости">
            <a:extLst>
              <a:ext uri="{FF2B5EF4-FFF2-40B4-BE49-F238E27FC236}">
                <a16:creationId xmlns:a16="http://schemas.microsoft.com/office/drawing/2014/main" id="{1385691F-D112-0295-00CB-4622C6F58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16820"/>
            <a:ext cx="984113" cy="984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2798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>
          <a:blip r:embed="rId3"/>
          <a:stretch>
            <a:fillRect/>
          </a:stretch>
        </p:blipFill>
        <p:spPr>
          <a:xfrm>
            <a:off x="1411972" y="901336"/>
            <a:ext cx="9805852" cy="5055328"/>
          </a:xfrm>
          <a:prstGeom prst="rect">
            <a:avLst/>
          </a:prstGeom>
        </p:spPr>
      </p:pic>
      <p:pic>
        <p:nvPicPr>
          <p:cNvPr id="5" name="Picture 2" descr="Новости">
            <a:extLst>
              <a:ext uri="{FF2B5EF4-FFF2-40B4-BE49-F238E27FC236}">
                <a16:creationId xmlns:a16="http://schemas.microsoft.com/office/drawing/2014/main" id="{BF19BE04-A49E-0EE7-773D-7F4F943E0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16820"/>
            <a:ext cx="984113" cy="984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1527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903843E-1FAB-AFBB-BDC9-440FCC8CFB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9166" y="620486"/>
            <a:ext cx="9144000" cy="697794"/>
          </a:xfrm>
          <a:noFill/>
        </p:spPr>
        <p:txBody>
          <a:bodyPr rtlCol="0"/>
          <a:lstStyle/>
          <a:p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ru-RU" sz="24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на базе </a:t>
            </a:r>
            <a:r>
              <a:rPr lang="en-US" sz="2400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TelecomX</a:t>
            </a:r>
            <a:endParaRPr lang="ru" sz="240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Объект 9">
            <a:extLst>
              <a:ext uri="{FF2B5EF4-FFF2-40B4-BE49-F238E27FC236}">
                <a16:creationId xmlns:a16="http://schemas.microsoft.com/office/drawing/2014/main" id="{C9475E86-FFB0-87BC-084C-C728916152B0}"/>
              </a:ext>
            </a:extLst>
          </p:cNvPr>
          <p:cNvSpPr txBox="1">
            <a:spLocks/>
          </p:cNvSpPr>
          <p:nvPr/>
        </p:nvSpPr>
        <p:spPr>
          <a:xfrm>
            <a:off x="478972" y="1543672"/>
            <a:ext cx="11164388" cy="2360024"/>
          </a:xfrm>
          <a:prstGeom prst="rect">
            <a:avLst/>
          </a:prstGeom>
        </p:spPr>
        <p:txBody>
          <a:bodyPr rtlCol="0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«С линейного оборудования узлов связи раз в какое-то время (например, раз в 10 минут) снимаются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логи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содержащие информацию об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интернет-соединении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абонентов, как то номер сеанса связи, дата начала, конца и его продолжительность, а также номер абонента и количество скачанного и переданного им трафика. 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Когда данные прилетали на хранилище, они обрабатывались аналитическим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пайплайном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выявления аномалий потребления трафика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абонентами за последнее время. В частности, если характер потребления трафика кардинально изменился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 есть подозрение на то, что оборудование абонента взломано и превратилось, например, в узел DDOS-сети или в спам-сервер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 descr="https://habrastorage.org/r/w1560/getpro/habr/upload_files/8f6/ed0/cef/8f6ed0cefc03cde7c0a4a36391e7a88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8110" y="4129088"/>
            <a:ext cx="4048462" cy="2312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ъект 9">
            <a:extLst>
              <a:ext uri="{FF2B5EF4-FFF2-40B4-BE49-F238E27FC236}">
                <a16:creationId xmlns:a16="http://schemas.microsoft.com/office/drawing/2014/main" id="{C9475E86-FFB0-87BC-084C-C728916152B0}"/>
              </a:ext>
            </a:extLst>
          </p:cNvPr>
          <p:cNvSpPr txBox="1">
            <a:spLocks/>
          </p:cNvSpPr>
          <p:nvPr/>
        </p:nvSpPr>
        <p:spPr>
          <a:xfrm>
            <a:off x="873057" y="3903696"/>
            <a:ext cx="6444341" cy="2090056"/>
          </a:xfrm>
          <a:prstGeom prst="rect">
            <a:avLst/>
          </a:prstGeom>
        </p:spPr>
        <p:txBody>
          <a:bodyPr rtlCol="0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Telecom10k — телеком-компания с 10 000 абонентов, 1 млн записей, 51 Мб данных.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Telecom100k — телеком-компания с 100 000 абонентов, 11 млн записей, 688 Мб данных.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Telecom1000k — телеком-компания с 1 000 000 абонентов, 117 млн записей, 7,2 Гб данных.</a:t>
            </a:r>
          </a:p>
          <a:p>
            <a:endParaRPr lang="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Новости">
            <a:extLst>
              <a:ext uri="{FF2B5EF4-FFF2-40B4-BE49-F238E27FC236}">
                <a16:creationId xmlns:a16="http://schemas.microsoft.com/office/drawing/2014/main" id="{8184052F-30C7-B716-905F-08E7A364D1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16820"/>
            <a:ext cx="984113" cy="984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6932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2280" y="584348"/>
            <a:ext cx="11267440" cy="507605"/>
          </a:xfrm>
        </p:spPr>
        <p:txBody>
          <a:bodyPr>
            <a:norm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Итог: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TelecomX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2431" y="1065320"/>
            <a:ext cx="1038932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испытаний из 650 пользователей, было выявлено 3 пользователя с устойчивыми аномалиями (в течение нескольких часов)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 для достижения результата пришлось сконфигурировать алгоритм – в базовой версии, он считал аномальной активность половины пользователей.</a:t>
            </a:r>
          </a:p>
          <a:p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анализе выявлено, что у таких пользователей наблюдались незначительные изменения.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Испытание подтверждает, что алгоритм может решать поставленную задачу, но для каждого конкретного случая может потребоваться провести корректировку – чтобы избегать частых срабатываний.</a:t>
            </a:r>
          </a:p>
          <a:p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2B78A03-2BB4-2E71-3000-B692C1331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547" y="2633244"/>
            <a:ext cx="4811453" cy="3848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F206DDE-B1DA-BAC8-DFB1-4DE090B98D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116" y="2632709"/>
            <a:ext cx="4811453" cy="384916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DEE215-8E2D-C06B-BF96-CB00B5D794F0}"/>
              </a:ext>
            </a:extLst>
          </p:cNvPr>
          <p:cNvSpPr txBox="1"/>
          <p:nvPr/>
        </p:nvSpPr>
        <p:spPr>
          <a:xfrm>
            <a:off x="2419029" y="6410264"/>
            <a:ext cx="24946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доверия анализатора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EB96B3-3CED-43B8-47DB-38D78E99A51A}"/>
              </a:ext>
            </a:extLst>
          </p:cNvPr>
          <p:cNvSpPr txBox="1"/>
          <p:nvPr/>
        </p:nvSpPr>
        <p:spPr>
          <a:xfrm>
            <a:off x="7699899" y="6410264"/>
            <a:ext cx="34593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Изменение аномальной характеристики</a:t>
            </a:r>
          </a:p>
        </p:txBody>
      </p:sp>
      <p:pic>
        <p:nvPicPr>
          <p:cNvPr id="10" name="Picture 2" descr="Новости">
            <a:extLst>
              <a:ext uri="{FF2B5EF4-FFF2-40B4-BE49-F238E27FC236}">
                <a16:creationId xmlns:a16="http://schemas.microsoft.com/office/drawing/2014/main" id="{A789B1B6-3779-96CC-8AC7-AFDC40241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16820"/>
            <a:ext cx="984113" cy="984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6244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23784" y="959851"/>
            <a:ext cx="506184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Следующий шаг: «Спроектировать платформу»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Принято решение использовать модульную архитектуру.</a:t>
            </a:r>
          </a:p>
          <a:p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Выделены сущности: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1.Логгер – приложение, которое считывает характеристики</a:t>
            </a:r>
          </a:p>
          <a:p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2.Сервис представлений – приложение, которое группирует характеристики для формирования удобных для конкретных анализаторов моделей данных.</a:t>
            </a:r>
          </a:p>
          <a:p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3.Анализатор – приложение, которое обращается к сервису представлений за данными – для обучения (корректировки весов) или для анализа (получение последних событий)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Анализатор в зависимости от настроек генерирует инциденты – фиксация аномальной активности </a:t>
            </a:r>
          </a:p>
          <a:p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4.Сервис оповещения – ответственный должен своевременно получить уведомление об инциденте, это может быть телеграмм бот или почта.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Такая архитектура позволяет продвинутым пользователям разрабатывать свои компоненты, расширять покрытие платформы.</a:t>
            </a:r>
          </a:p>
          <a:p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EA08D3A-F042-1CCB-1973-5219CC652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3181" y="719415"/>
            <a:ext cx="5996066" cy="5743852"/>
          </a:xfrm>
          <a:prstGeom prst="rect">
            <a:avLst/>
          </a:prstGeom>
        </p:spPr>
      </p:pic>
      <p:pic>
        <p:nvPicPr>
          <p:cNvPr id="7" name="Picture 2" descr="Новости">
            <a:extLst>
              <a:ext uri="{FF2B5EF4-FFF2-40B4-BE49-F238E27FC236}">
                <a16:creationId xmlns:a16="http://schemas.microsoft.com/office/drawing/2014/main" id="{5831263E-8732-08CE-4619-B45D5B1E6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16820"/>
            <a:ext cx="984113" cy="984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3419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62861-6C3A-F1E3-2419-8984DD1AD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18042D-AADF-953E-8060-F7E512E13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280" y="531083"/>
            <a:ext cx="11267440" cy="596382"/>
          </a:xfrm>
        </p:spPr>
        <p:txBody>
          <a:bodyPr>
            <a:normAutofit/>
          </a:bodyPr>
          <a:lstStyle/>
          <a:p>
            <a:pPr algn="ctr"/>
            <a:r>
              <a:rPr lang="ru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4.Реализация </a:t>
            </a:r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IDS </a:t>
            </a:r>
            <a:r>
              <a:rPr lang="ru-RU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системы(Модель данных - ДЕМО)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8AD259-8DDB-F71D-AC50-F27FDD5B2862}"/>
              </a:ext>
            </a:extLst>
          </p:cNvPr>
          <p:cNvSpPr txBox="1"/>
          <p:nvPr/>
        </p:nvSpPr>
        <p:spPr>
          <a:xfrm>
            <a:off x="462280" y="1086006"/>
            <a:ext cx="10458112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построения модели использовался подход, основанный на статистических параметрах системы.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Такой вариант подходит как для серверов промышленных систем, так и для систем личного пользования.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(!) Заметим, что подходы анализа отклонений в работе человека тоже очень перспективны, но их реализацией займусь в будущем.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Построенная модель данных представляется 3мя группами характеристик: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процессор и активность процессов(системные вызовы, прерывания, время(системное, пользовательское и время простоя системы))</a:t>
            </a:r>
          </a:p>
          <a:p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статистика по операциям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сетевая активность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каждой группы был реализован свой анализатор.</a:t>
            </a:r>
          </a:p>
          <a:p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Библиотеки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/>
            <a:r>
              <a:rPr lang="ru-RU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Нагрузки на систему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(CPU, GPU, RAM): </a:t>
            </a:r>
            <a:r>
              <a:rPr lang="ru-RU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Psutil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GPUtil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Platworm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Трафик (адреса, пакеты, объём, количество):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Scapy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D3235F8-DAFB-91D1-002C-0153EAF23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549" y="5271767"/>
            <a:ext cx="5151006" cy="128025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0182692-40D0-154D-EB2B-B400AAC12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6716" y="5271766"/>
            <a:ext cx="3239817" cy="128024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579DF38-90E0-9B1E-CA0E-14CDFDE371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1601" y="4764061"/>
            <a:ext cx="2316536" cy="172158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888F2C7-E1DD-0080-2862-393CE6A86F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3627" y="3071439"/>
            <a:ext cx="3876003" cy="153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881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BF3B6-C9BB-9CA5-70F7-668FAB613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36F075-7270-88B4-8A1E-C055EEBF7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280" y="573823"/>
            <a:ext cx="11267440" cy="444272"/>
          </a:xfrm>
        </p:spPr>
        <p:txBody>
          <a:bodyPr>
            <a:noAutofit/>
          </a:bodyPr>
          <a:lstStyle/>
          <a:p>
            <a:pPr algn="ctr"/>
            <a:r>
              <a:rPr lang="ru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4.Реализация </a:t>
            </a:r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IDS </a:t>
            </a:r>
            <a:r>
              <a:rPr lang="ru-RU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системы(Модель данных для процессов)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71E34CB-DF2C-8888-2D87-621336387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0394" y="1018095"/>
            <a:ext cx="5491211" cy="5674936"/>
          </a:xfrm>
          <a:prstGeom prst="rect">
            <a:avLst/>
          </a:prstGeom>
        </p:spPr>
      </p:pic>
      <p:pic>
        <p:nvPicPr>
          <p:cNvPr id="4" name="Picture 2" descr="Новости">
            <a:extLst>
              <a:ext uri="{FF2B5EF4-FFF2-40B4-BE49-F238E27FC236}">
                <a16:creationId xmlns:a16="http://schemas.microsoft.com/office/drawing/2014/main" id="{91F40F9F-2A7B-549C-099E-25C92D26E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16820"/>
            <a:ext cx="984113" cy="984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7202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43523-1A2C-40A4-68DF-185CC65EC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58BA26-DEAE-3E11-4C6A-9120DAA33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280" y="573823"/>
            <a:ext cx="11267440" cy="444272"/>
          </a:xfrm>
        </p:spPr>
        <p:txBody>
          <a:bodyPr>
            <a:noAutofit/>
          </a:bodyPr>
          <a:lstStyle/>
          <a:p>
            <a:pPr algn="ctr"/>
            <a:r>
              <a:rPr lang="ru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lang="ru-RU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(сервер)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1935EF0-FE90-CBF3-0CDE-06B84B532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91" y="1018095"/>
            <a:ext cx="3557232" cy="53956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43511C-33B8-CFFC-50E0-5B8786B98E56}"/>
              </a:ext>
            </a:extLst>
          </p:cNvPr>
          <p:cNvSpPr txBox="1"/>
          <p:nvPr/>
        </p:nvSpPr>
        <p:spPr>
          <a:xfrm>
            <a:off x="66513" y="6436083"/>
            <a:ext cx="42012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сервиса представлений для анализатора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2FAA4E7-EE93-4EC0-3EE0-F05F64D20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4242" y="2388482"/>
            <a:ext cx="8988473" cy="21783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719B00-FA24-8F0F-EDEC-23727D45145A}"/>
              </a:ext>
            </a:extLst>
          </p:cNvPr>
          <p:cNvSpPr txBox="1"/>
          <p:nvPr/>
        </p:nvSpPr>
        <p:spPr>
          <a:xfrm>
            <a:off x="6544299" y="4561738"/>
            <a:ext cx="20470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 работы логгера</a:t>
            </a:r>
          </a:p>
        </p:txBody>
      </p:sp>
    </p:spTree>
    <p:extLst>
      <p:ext uri="{BB962C8B-B14F-4D97-AF65-F5344CB8AC3E}">
        <p14:creationId xmlns:p14="http://schemas.microsoft.com/office/powerpoint/2010/main" val="3029589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E137F-121C-3FC9-C324-255AA049A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25248C-809A-E1F3-7A8D-DDED6FA0E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280" y="573823"/>
            <a:ext cx="11267440" cy="444272"/>
          </a:xfrm>
        </p:spPr>
        <p:txBody>
          <a:bodyPr>
            <a:noAutofit/>
          </a:bodyPr>
          <a:lstStyle/>
          <a:p>
            <a:pPr algn="ctr"/>
            <a:r>
              <a:rPr lang="ru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lang="ru-RU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(сервер)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514B64-745C-A95E-8885-01952DF92A8B}"/>
              </a:ext>
            </a:extLst>
          </p:cNvPr>
          <p:cNvSpPr txBox="1"/>
          <p:nvPr/>
        </p:nvSpPr>
        <p:spPr>
          <a:xfrm>
            <a:off x="2678850" y="5976400"/>
            <a:ext cx="19792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анализатора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870E7E7-4C0B-7729-E3D4-689D79172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97" y="1059316"/>
            <a:ext cx="7263848" cy="487365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C5800A6-1504-9BC7-4CC1-086FD7A7F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1043" y="1163286"/>
            <a:ext cx="4458194" cy="23328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2534692-F029-D699-9E63-E209A5B380B8}"/>
              </a:ext>
            </a:extLst>
          </p:cNvPr>
          <p:cNvSpPr txBox="1"/>
          <p:nvPr/>
        </p:nvSpPr>
        <p:spPr>
          <a:xfrm>
            <a:off x="8710473" y="3446226"/>
            <a:ext cx="20193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анализатора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262D72-725F-C15E-3899-F84687AEBE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1043" y="4035616"/>
            <a:ext cx="4439720" cy="13112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854BF5C-54AD-B613-5B50-2620D0533145}"/>
              </a:ext>
            </a:extLst>
          </p:cNvPr>
          <p:cNvSpPr txBox="1"/>
          <p:nvPr/>
        </p:nvSpPr>
        <p:spPr>
          <a:xfrm>
            <a:off x="8566202" y="5331997"/>
            <a:ext cx="23078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анализатора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2" descr="Новости">
            <a:extLst>
              <a:ext uri="{FF2B5EF4-FFF2-40B4-BE49-F238E27FC236}">
                <a16:creationId xmlns:a16="http://schemas.microsoft.com/office/drawing/2014/main" id="{66DE7F90-D17D-1C28-789F-4500FAB717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16820"/>
            <a:ext cx="984113" cy="984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74694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8B741-6920-83C3-85AE-0AEAEECD6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78C2DA-33B6-0148-AD06-C1C1BA607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280" y="602104"/>
            <a:ext cx="11267440" cy="434844"/>
          </a:xfrm>
        </p:spPr>
        <p:txBody>
          <a:bodyPr>
            <a:no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</a:t>
            </a:r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IDS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D85FCE-80F3-40E1-CF26-7D9D4E37E51E}"/>
              </a:ext>
            </a:extLst>
          </p:cNvPr>
          <p:cNvSpPr txBox="1"/>
          <p:nvPr/>
        </p:nvSpPr>
        <p:spPr>
          <a:xfrm>
            <a:off x="747010" y="1296140"/>
            <a:ext cx="106979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2.Как пользователь работает с системой?</a:t>
            </a:r>
          </a:p>
          <a:p>
            <a:pPr lvl="0"/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Система – процесс, без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но с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для возможности реализовать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0"/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8ECF304-1542-D722-E5E3-E2DB492CF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205" y="2086304"/>
            <a:ext cx="6725589" cy="4544059"/>
          </a:xfrm>
          <a:prstGeom prst="rect">
            <a:avLst/>
          </a:prstGeom>
        </p:spPr>
      </p:pic>
      <p:pic>
        <p:nvPicPr>
          <p:cNvPr id="3" name="Picture 2" descr="Новости">
            <a:extLst>
              <a:ext uri="{FF2B5EF4-FFF2-40B4-BE49-F238E27FC236}">
                <a16:creationId xmlns:a16="http://schemas.microsoft.com/office/drawing/2014/main" id="{ADEA030C-8CE0-B07D-B5DA-AEF7A4F10E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16820"/>
            <a:ext cx="984113" cy="984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08756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BDC87-5E6B-1151-C2F7-1C7772887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C05FAC-903F-42E0-845B-1DBE1212A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280" y="602104"/>
            <a:ext cx="11267440" cy="415991"/>
          </a:xfrm>
        </p:spPr>
        <p:txBody>
          <a:bodyPr>
            <a:no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</a:t>
            </a:r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IDS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9DACA35-E9AE-D713-EEA6-EA0CB633B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599" y="1470505"/>
            <a:ext cx="8081642" cy="4598998"/>
          </a:xfrm>
          <a:prstGeom prst="rect">
            <a:avLst/>
          </a:prstGeom>
        </p:spPr>
      </p:pic>
      <p:pic>
        <p:nvPicPr>
          <p:cNvPr id="3" name="Picture 2" descr="Новости">
            <a:extLst>
              <a:ext uri="{FF2B5EF4-FFF2-40B4-BE49-F238E27FC236}">
                <a16:creationId xmlns:a16="http://schemas.microsoft.com/office/drawing/2014/main" id="{DEC392C5-68C6-4A79-FFFD-9E0616174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16820"/>
            <a:ext cx="984113" cy="984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76963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FD2E2-F9AF-6BD0-BB14-7DBFB9E73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D694D3C-41E3-6E5F-2699-F9EB49D15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152" y="1514245"/>
            <a:ext cx="8211696" cy="4610743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09FC0300-66C6-25B3-349D-9C4E5680DB60}"/>
              </a:ext>
            </a:extLst>
          </p:cNvPr>
          <p:cNvSpPr txBox="1">
            <a:spLocks/>
          </p:cNvSpPr>
          <p:nvPr/>
        </p:nvSpPr>
        <p:spPr>
          <a:xfrm>
            <a:off x="462280" y="602104"/>
            <a:ext cx="11267440" cy="41599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4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" sz="24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</a:t>
            </a:r>
            <a:r>
              <a:rPr lang="en-US" sz="24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IDS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2" descr="Новости">
            <a:extLst>
              <a:ext uri="{FF2B5EF4-FFF2-40B4-BE49-F238E27FC236}">
                <a16:creationId xmlns:a16="http://schemas.microsoft.com/office/drawing/2014/main" id="{909DAE77-9276-BBAE-D4BF-953EEB51C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16820"/>
            <a:ext cx="984113" cy="984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72648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52DA3-919F-453F-B25A-20A7C657F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8294C60-8B34-262C-E0C6-4E16D0245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915" y="1327166"/>
            <a:ext cx="8202170" cy="4629796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0E31AA9-C7DF-7024-D687-AC4D47848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280" y="602104"/>
            <a:ext cx="11267440" cy="415991"/>
          </a:xfrm>
        </p:spPr>
        <p:txBody>
          <a:bodyPr>
            <a:no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</a:t>
            </a:r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IDS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Новости">
            <a:extLst>
              <a:ext uri="{FF2B5EF4-FFF2-40B4-BE49-F238E27FC236}">
                <a16:creationId xmlns:a16="http://schemas.microsoft.com/office/drawing/2014/main" id="{73157A63-8AE3-80DE-8843-1DE22EAAB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16820"/>
            <a:ext cx="984113" cy="984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95110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39D01-D6CC-7F00-9AF1-A8B98EFA7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182AAEE-87F1-82E2-F49F-BEEC30257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336" y="1381080"/>
            <a:ext cx="8259328" cy="4610743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F328F863-48F5-D41F-0814-4754225030E1}"/>
              </a:ext>
            </a:extLst>
          </p:cNvPr>
          <p:cNvSpPr txBox="1">
            <a:spLocks/>
          </p:cNvSpPr>
          <p:nvPr/>
        </p:nvSpPr>
        <p:spPr>
          <a:xfrm>
            <a:off x="462280" y="602104"/>
            <a:ext cx="11267440" cy="41599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4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" sz="24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</a:t>
            </a:r>
            <a:r>
              <a:rPr lang="en-US" sz="24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IDS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Новости">
            <a:extLst>
              <a:ext uri="{FF2B5EF4-FFF2-40B4-BE49-F238E27FC236}">
                <a16:creationId xmlns:a16="http://schemas.microsoft.com/office/drawing/2014/main" id="{7E768E7F-2E4D-4D72-8C7B-B9B87CA462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16820"/>
            <a:ext cx="984113" cy="984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21196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E164B-2C40-C7E5-6BFA-C2A11D033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C23409B-41CC-DF63-BD34-389B5D0AB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152" y="1438461"/>
            <a:ext cx="8211696" cy="4620270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DE3339CF-6CD8-3909-4425-8FB6D335FEA6}"/>
              </a:ext>
            </a:extLst>
          </p:cNvPr>
          <p:cNvSpPr txBox="1">
            <a:spLocks/>
          </p:cNvSpPr>
          <p:nvPr/>
        </p:nvSpPr>
        <p:spPr>
          <a:xfrm>
            <a:off x="462280" y="602104"/>
            <a:ext cx="11267440" cy="41599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4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" sz="24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</a:t>
            </a:r>
            <a:r>
              <a:rPr lang="en-US" sz="24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IDS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Новости">
            <a:extLst>
              <a:ext uri="{FF2B5EF4-FFF2-40B4-BE49-F238E27FC236}">
                <a16:creationId xmlns:a16="http://schemas.microsoft.com/office/drawing/2014/main" id="{B55DDD44-E3F4-2C1B-C866-100F783FB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16820"/>
            <a:ext cx="984113" cy="984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82069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690881"/>
            <a:ext cx="11267440" cy="440336"/>
          </a:xfrm>
        </p:spPr>
        <p:txBody>
          <a:bodyPr>
            <a:no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Итог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654" y="1131217"/>
            <a:ext cx="1038932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работы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1.Выделены подходы к построению анализаторов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IDS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 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2.Построен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эффективный алгоритм-анализатор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3.Протестирован на приближенном к реальной задаче поиска аномалий в сетевой активности - датасете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TelecomX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4.Спроектирована модульная архитектура для построения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IDS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систем, позволяющая сообществу в будущем расширять платформу новыми компонентами. Это шаг в сторону открытого взаимодействия между специалистами в области компьютерной безопасности.</a:t>
            </a:r>
          </a:p>
          <a:p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5.Предложена модель данных, покрывающая различные направления в работе системы – заложена возможность анализа отдельных приложений на регресс или подозрительную активность.</a:t>
            </a:r>
          </a:p>
          <a:p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6.Реализована демонстрационная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IDS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система.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будущем планирую рассмотреть вопрос переноса системы на отдельное подключаемое устройство – что позволит: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Меньше потреблять ресурсы анализируемой системы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Ограничить возможности злоумышленника повлиять на систему анализа в случае взлома устройства.</a:t>
            </a:r>
          </a:p>
          <a:p>
            <a:endParaRPr lang="ru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Новости">
            <a:extLst>
              <a:ext uri="{FF2B5EF4-FFF2-40B4-BE49-F238E27FC236}">
                <a16:creationId xmlns:a16="http://schemas.microsoft.com/office/drawing/2014/main" id="{3191E43E-822E-9C43-DB2A-C37D209088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16820"/>
            <a:ext cx="984113" cy="984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39474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32814-7291-3EFB-4C4F-49A28E0D4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95F854-53A4-8F0F-6151-A2D3FC9E5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328" y="-21345"/>
            <a:ext cx="3923171" cy="440336"/>
          </a:xfrm>
        </p:spPr>
        <p:txBody>
          <a:bodyPr>
            <a:normAutofit fontScale="90000"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внимание!!!</a:t>
            </a:r>
          </a:p>
        </p:txBody>
      </p:sp>
      <p:pic>
        <p:nvPicPr>
          <p:cNvPr id="7" name="Picture 2" descr="Новости">
            <a:extLst>
              <a:ext uri="{FF2B5EF4-FFF2-40B4-BE49-F238E27FC236}">
                <a16:creationId xmlns:a16="http://schemas.microsoft.com/office/drawing/2014/main" id="{E3E873E2-2D2B-543A-327E-DC912F275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9620" y="1565932"/>
            <a:ext cx="763856" cy="763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6" name="Picture 14">
            <a:extLst>
              <a:ext uri="{FF2B5EF4-FFF2-40B4-BE49-F238E27FC236}">
                <a16:creationId xmlns:a16="http://schemas.microsoft.com/office/drawing/2014/main" id="{0594D1E9-6058-2B71-0925-214759CB80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804" y="1572072"/>
            <a:ext cx="1644418" cy="328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6D54318-C6F5-5717-485B-4AE892B35D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1191" y="465955"/>
            <a:ext cx="2655318" cy="182455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5F7D0D5-E99A-02FC-6DA9-3B3A3C1AD7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7815" y="465954"/>
            <a:ext cx="3509086" cy="2311858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6B3DDA2A-4685-3C5D-E975-F93265B727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6509" y="465955"/>
            <a:ext cx="1211305" cy="1824558"/>
          </a:xfrm>
          <a:prstGeom prst="rect">
            <a:avLst/>
          </a:prstGeom>
        </p:spPr>
      </p:pic>
      <p:pic>
        <p:nvPicPr>
          <p:cNvPr id="8210" name="Picture 18">
            <a:extLst>
              <a:ext uri="{FF2B5EF4-FFF2-40B4-BE49-F238E27FC236}">
                <a16:creationId xmlns:a16="http://schemas.microsoft.com/office/drawing/2014/main" id="{AE69AF10-C230-7437-112B-AC4EA14F36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31" y="0"/>
            <a:ext cx="2475034" cy="1602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2" name="Picture 10">
            <a:extLst>
              <a:ext uri="{FF2B5EF4-FFF2-40B4-BE49-F238E27FC236}">
                <a16:creationId xmlns:a16="http://schemas.microsoft.com/office/drawing/2014/main" id="{AD62EFE3-3215-56D8-E99D-4B8753F5AC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2499" y="0"/>
            <a:ext cx="3071200" cy="3155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EB285346-8A8C-855E-961A-DCC93DD01AD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1137560" y="4833256"/>
            <a:ext cx="4889490" cy="2024744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54B0D568-DAE4-0009-F129-972BA317578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51930" y="4833256"/>
            <a:ext cx="3989986" cy="2601206"/>
          </a:xfrm>
          <a:prstGeom prst="rect">
            <a:avLst/>
          </a:prstGeom>
        </p:spPr>
      </p:pic>
      <p:pic>
        <p:nvPicPr>
          <p:cNvPr id="8198" name="Picture 6">
            <a:extLst>
              <a:ext uri="{FF2B5EF4-FFF2-40B4-BE49-F238E27FC236}">
                <a16:creationId xmlns:a16="http://schemas.microsoft.com/office/drawing/2014/main" id="{0A08FB7B-1B35-D959-1315-D5F2796FF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9592" y="2784681"/>
            <a:ext cx="5442408" cy="4073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>
            <a:extLst>
              <a:ext uri="{FF2B5EF4-FFF2-40B4-BE49-F238E27FC236}">
                <a16:creationId xmlns:a16="http://schemas.microsoft.com/office/drawing/2014/main" id="{8240A851-154D-A55D-048E-1E3D7B655A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3615" y="2252831"/>
            <a:ext cx="5115978" cy="2601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DF6DDC8E-99BC-914B-CE04-1B4F9E74D92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67403" y="-6869"/>
            <a:ext cx="2894684" cy="46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8050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4AA42-F895-98C2-9138-5237CE3F8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8BDE63-90BC-84A5-4C9F-9A7009D298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14660"/>
            <a:ext cx="9144000" cy="934375"/>
          </a:xfrm>
        </p:spPr>
        <p:txBody>
          <a:bodyPr/>
          <a:lstStyle/>
          <a:p>
            <a:r>
              <a:rPr lang="ru-RU" dirty="0"/>
              <a:t>Алгоритм распределения весов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7C766796-8E96-55AD-469E-C48AA90E5A2C}"/>
              </a:ext>
            </a:extLst>
          </p:cNvPr>
          <p:cNvSpPr txBox="1">
            <a:spLocks/>
          </p:cNvSpPr>
          <p:nvPr/>
        </p:nvSpPr>
        <p:spPr>
          <a:xfrm>
            <a:off x="550415" y="1549035"/>
            <a:ext cx="6306106" cy="205207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/>
              <a:t>Вход</a:t>
            </a:r>
            <a:r>
              <a:rPr lang="en-US" dirty="0"/>
              <a:t>:</a:t>
            </a:r>
            <a:endParaRPr lang="ru-RU" dirty="0"/>
          </a:p>
          <a:p>
            <a:pPr lvl="0" algn="l"/>
            <a:r>
              <a:rPr lang="ru-RU" dirty="0"/>
              <a:t>	</a:t>
            </a:r>
            <a:r>
              <a:rPr lang="en-US" dirty="0"/>
              <a:t>expected</a:t>
            </a:r>
            <a:r>
              <a:rPr lang="ru-RU" dirty="0"/>
              <a:t>, </a:t>
            </a:r>
            <a:r>
              <a:rPr lang="en-US" dirty="0"/>
              <a:t>current</a:t>
            </a:r>
            <a:r>
              <a:rPr lang="ru-RU" dirty="0"/>
              <a:t> - ожидаемый и фактический результат,</a:t>
            </a:r>
          </a:p>
          <a:p>
            <a:pPr lvl="0" algn="l"/>
            <a:r>
              <a:rPr lang="ru-RU" dirty="0"/>
              <a:t>	</a:t>
            </a:r>
            <a:r>
              <a:rPr lang="en-US" dirty="0"/>
              <a:t>weights</a:t>
            </a:r>
            <a:r>
              <a:rPr lang="ru-RU" dirty="0"/>
              <a:t> – текущий набор весов.</a:t>
            </a:r>
          </a:p>
          <a:p>
            <a:pPr algn="l"/>
            <a:r>
              <a:rPr lang="ru-RU" dirty="0"/>
              <a:t>Выход:</a:t>
            </a:r>
          </a:p>
          <a:p>
            <a:pPr lvl="0" algn="l"/>
            <a:r>
              <a:rPr lang="ru-RU" dirty="0"/>
              <a:t>	</a:t>
            </a:r>
            <a:r>
              <a:rPr lang="en-US" dirty="0"/>
              <a:t>new</a:t>
            </a:r>
            <a:r>
              <a:rPr lang="ru-RU" dirty="0"/>
              <a:t>_ </a:t>
            </a:r>
            <a:r>
              <a:rPr lang="en-US" dirty="0"/>
              <a:t>weights</a:t>
            </a:r>
            <a:r>
              <a:rPr lang="ru-RU" dirty="0"/>
              <a:t> – скорректированный набор весов. 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D30ADFD-A220-8A96-359D-0B371DE43D3F}"/>
                  </a:ext>
                </a:extLst>
              </p:cNvPr>
              <p:cNvSpPr txBox="1"/>
              <p:nvPr/>
            </p:nvSpPr>
            <p:spPr>
              <a:xfrm>
                <a:off x="1694153" y="3537582"/>
                <a:ext cx="10497847" cy="3542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Алгоритм</a:t>
                </a:r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1.Вычислить общую ошибку: </a:t>
                </a:r>
                <a14:m>
                  <m:oMath xmlns:m="http://schemas.openxmlformats.org/officeDocument/2006/math">
                    <m:r>
                      <a:rPr lang="ru-RU" b="1" i="1">
                        <a:latin typeface="Cambria Math" panose="02040503050406030204" pitchFamily="18" charset="0"/>
                      </a:rPr>
                      <m:t>𝒆𝒓𝒓𝒐𝒓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𝑒𝑥𝑝𝑒𝑐𝑡𝑒𝑑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𝑐𝑢𝑟𝑟𝑒𝑐𝑡</m:t>
                    </m:r>
                  </m:oMath>
                </a14:m>
                <a:endParaRPr lang="ru-RU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ru-RU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2.Вычислить значение </a:t>
                </a:r>
                <a:r>
                  <a:rPr lang="ru-RU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сигмоиды</a:t>
                </a:r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от ошибки: </a:t>
                </a:r>
                <a14:m>
                  <m:oMath xmlns:m="http://schemas.openxmlformats.org/officeDocument/2006/math">
                    <m:r>
                      <a:rPr lang="ru-RU" b="1" i="1">
                        <a:latin typeface="Cambria Math" panose="02040503050406030204" pitchFamily="18" charset="0"/>
                      </a:rPr>
                      <m:t>𝒔𝒊𝒈𝒎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ru-RU" i="1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𝑒𝑟𝑟𝑜𝑟</m:t>
                            </m:r>
                          </m:sup>
                        </m:sSup>
                      </m:den>
                    </m:f>
                  </m:oMath>
                </a14:m>
                <a:endParaRPr lang="ru-RU" dirty="0">
                  <a:latin typeface="Calibri" panose="020F0502020204030204" pitchFamily="34" charset="0"/>
                </a:endParaRPr>
              </a:p>
              <a:p>
                <a:endParaRPr lang="ru-RU" dirty="0">
                  <a:latin typeface="Calibri" panose="020F0502020204030204" pitchFamily="34" charset="0"/>
                </a:endParaRPr>
              </a:p>
              <a:p>
                <a:pPr lvl="0"/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3.</a:t>
                </a:r>
                <a:r>
                  <a:rPr lang="ru-RU" dirty="0"/>
                  <a:t> Вычислить значение корректировочного коэффициента</a:t>
                </a:r>
                <a:r>
                  <a:rPr lang="en-US" dirty="0"/>
                  <a:t>:</a:t>
                </a:r>
                <a:endParaRPr lang="ru-R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                             </m:t>
                      </m:r>
                      <m:r>
                        <a:rPr lang="ru-RU" b="1" i="1">
                          <a:latin typeface="Cambria Math" panose="02040503050406030204" pitchFamily="18" charset="0"/>
                        </a:rPr>
                        <m:t>𝒅𝒆𝒍𝒕𝒂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𝑠𝑖𝑔𝑚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 (1 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𝑠𝑖𝑔𝑚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ru-RU">
                          <a:latin typeface="Cambria Math" panose="02040503050406030204" pitchFamily="18" charset="0"/>
                        </a:rPr>
                        <m:t>error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ru-RU">
                          <a:latin typeface="Cambria Math" panose="02040503050406030204" pitchFamily="18" charset="0"/>
                        </a:rPr>
                        <m:t>learn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ru-RU">
                          <a:latin typeface="Cambria Math" panose="02040503050406030204" pitchFamily="18" charset="0"/>
                        </a:rPr>
                        <m:t>step</m:t>
                      </m:r>
                    </m:oMath>
                  </m:oMathPara>
                </a14:m>
                <a:endParaRPr lang="ru-RU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learn_step</a:t>
                </a:r>
                <a:r>
                  <a:rPr lang="en-US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– </a:t>
                </a:r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шаг обучения, определяет скорость, с которой результат будет скорректирован</a:t>
                </a:r>
              </a:p>
              <a:p>
                <a:endParaRPr lang="ru-RU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delta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– </a:t>
                </a:r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общий корректировочный </a:t>
                </a:r>
                <a:r>
                  <a:rPr lang="ru-RU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кф</a:t>
                </a:r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требуется на его основе вычислить индивидуальный для каждого анализатора</a:t>
                </a:r>
              </a:p>
              <a:p>
                <a:endParaRPr lang="ru-RU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D30ADFD-A220-8A96-359D-0B371DE43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4153" y="3537582"/>
                <a:ext cx="10497847" cy="3542765"/>
              </a:xfrm>
              <a:prstGeom prst="rect">
                <a:avLst/>
              </a:prstGeom>
              <a:blipFill>
                <a:blip r:embed="rId2"/>
                <a:stretch>
                  <a:fillRect l="-523" t="-8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Новости">
            <a:extLst>
              <a:ext uri="{FF2B5EF4-FFF2-40B4-BE49-F238E27FC236}">
                <a16:creationId xmlns:a16="http://schemas.microsoft.com/office/drawing/2014/main" id="{FC850099-7AF9-894F-6E90-D96DFB730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55226"/>
            <a:ext cx="1345707" cy="1345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29365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08422-1278-84F2-649D-53B5EFE71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CC6196-236D-3360-0C95-93B4D2553C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07994"/>
            <a:ext cx="9144000" cy="934375"/>
          </a:xfrm>
        </p:spPr>
        <p:txBody>
          <a:bodyPr/>
          <a:lstStyle/>
          <a:p>
            <a:r>
              <a:rPr lang="ru-RU" dirty="0"/>
              <a:t>Алгоритм распределения весов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06B855C-2364-8BBF-E3D9-BCAE7071C36F}"/>
                  </a:ext>
                </a:extLst>
              </p:cNvPr>
              <p:cNvSpPr txBox="1"/>
              <p:nvPr/>
            </p:nvSpPr>
            <p:spPr>
              <a:xfrm>
                <a:off x="275206" y="1712674"/>
                <a:ext cx="11446278" cy="49952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Алгоритм:</a:t>
                </a:r>
              </a:p>
              <a:p>
                <a:pPr lvl="0"/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4.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Определить: 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used</a:t>
                </a:r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_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analyzers</a:t>
                </a:r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– анализаторы, которые принимали участие в полученном результате. </a:t>
                </a:r>
              </a:p>
              <a:p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Анализатор может дать ответ («не знаю»), в таком случае он не учитывается в корректировке весов.</a:t>
                </a:r>
              </a:p>
              <a:p>
                <a:endParaRPr lang="ru-RU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5.Получить сумму использованных весов: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𝑡𝑜𝑡𝑎𝑙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𝑢𝑠𝑒𝑑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𝑤𝑒𝑖𝑔h𝑡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limLoc m:val="undOvr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used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analyzers</m:t>
                        </m:r>
                      </m:sup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ru-RU" dirty="0"/>
              </a:p>
              <a:p>
                <a:endParaRPr lang="ru-RU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0"/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6.</a:t>
                </a:r>
                <a:r>
                  <a:rPr lang="ru-RU" dirty="0"/>
                  <a:t> Посчитать корректировочное значение для веса конкретного анализатора </a:t>
                </a:r>
                <a:r>
                  <a:rPr lang="ru-RU" b="1" dirty="0"/>
                  <a:t>а</a:t>
                </a:r>
                <a:r>
                  <a:rPr lang="ru-RU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𝑑𝑒𝑙𝑡𝑎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ru-RU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skw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𝑢𝑠𝑒𝑑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𝑤𝑒𝑖𝑔h𝑡</m:t>
                          </m:r>
                        </m:den>
                      </m:f>
                      <m:r>
                        <a:rPr lang="ru-RU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𝑑𝑒𝑙𝑡𝑎</m:t>
                      </m:r>
                    </m:oMath>
                  </m:oMathPara>
                </a14:m>
                <a:endParaRPr lang="ru-RU" dirty="0"/>
              </a:p>
              <a:p>
                <a:endParaRPr lang="ru-RU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7.</a:t>
                </a:r>
                <a:r>
                  <a:rPr lang="ru-RU" dirty="0"/>
                  <a:t> Новое значение веса анализатора: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𝑛𝑒𝑤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𝑑𝑒𝑙𝑡𝑎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endParaRPr lang="ru-RU" dirty="0"/>
              </a:p>
              <a:p>
                <a:endParaRPr lang="ru-RU" dirty="0"/>
              </a:p>
              <a:p>
                <a:r>
                  <a:rPr lang="ru-RU" dirty="0"/>
                  <a:t>Алгоритм позволяет распределить веса для произвольного набора анализаторов.</a:t>
                </a:r>
              </a:p>
              <a:p>
                <a:r>
                  <a:rPr lang="ru-RU" dirty="0"/>
                  <a:t>Вес анализатора показывает его вклад в результат.</a:t>
                </a:r>
              </a:p>
              <a:p>
                <a:endParaRPr lang="ru-RU" dirty="0"/>
              </a:p>
              <a:p>
                <a:r>
                  <a:rPr lang="ru-RU" dirty="0"/>
                  <a:t>Итог: Можно взять несколько анализаторов, не зная, насколько каждый из них эффективен в конкретной ситуации, использовать алгоритм и распределить выявить «коррелирующие» признаки(считаем, что анализатор отражает признак)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06B855C-2364-8BBF-E3D9-BCAE7071C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206" y="1712674"/>
                <a:ext cx="11446278" cy="4995214"/>
              </a:xfrm>
              <a:prstGeom prst="rect">
                <a:avLst/>
              </a:prstGeom>
              <a:blipFill>
                <a:blip r:embed="rId2"/>
                <a:stretch>
                  <a:fillRect l="-426" t="-733" r="-479" b="-109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56276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78E49-F890-C0EE-0A2D-C169DE4AE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B00F12-7AB0-0122-EC88-0A96A15AFA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07994"/>
            <a:ext cx="9144000" cy="934375"/>
          </a:xfrm>
        </p:spPr>
        <p:txBody>
          <a:bodyPr/>
          <a:lstStyle/>
          <a:p>
            <a:r>
              <a:rPr lang="ru-RU" dirty="0"/>
              <a:t>Оценка качества анализатора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BCCA781A-51BD-B87A-CA9C-AB813D04E9AA}"/>
              </a:ext>
            </a:extLst>
          </p:cNvPr>
          <p:cNvSpPr txBox="1">
            <a:spLocks/>
          </p:cNvSpPr>
          <p:nvPr/>
        </p:nvSpPr>
        <p:spPr>
          <a:xfrm>
            <a:off x="1524000" y="2009041"/>
            <a:ext cx="9144000" cy="279377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Опр: </a:t>
            </a:r>
            <a:r>
              <a:rPr lang="ru-RU" b="1" dirty="0" err="1"/>
              <a:t>RSquared</a:t>
            </a:r>
            <a:r>
              <a:rPr lang="ru-RU" dirty="0"/>
              <a:t> (Коэффициент детерминации) – метрика для оценки качества модели, принимает значение от нуля до единицы.</a:t>
            </a:r>
          </a:p>
          <a:p>
            <a:r>
              <a:rPr lang="ru-RU" dirty="0"/>
              <a:t>Модель можно считать </a:t>
            </a:r>
            <a:r>
              <a:rPr lang="ru-RU" i="1" dirty="0"/>
              <a:t>неплохой</a:t>
            </a:r>
            <a:r>
              <a:rPr lang="ru-RU" dirty="0"/>
              <a:t>, если коэффициент больше 0.5, можно интерпретировать как соответствие модели данным. Чем ближе значение коэффициента к 1, тем сильнее соответствие.</a:t>
            </a:r>
          </a:p>
          <a:p>
            <a:pPr lvl="0"/>
            <a:r>
              <a:rPr lang="ru-RU" dirty="0"/>
              <a:t>Для </a:t>
            </a:r>
            <a:r>
              <a:rPr lang="ru-RU" i="1" dirty="0"/>
              <a:t>приемлемых</a:t>
            </a:r>
            <a:r>
              <a:rPr lang="ru-RU" dirty="0"/>
              <a:t> моделей предполагается, что коэффициент детерминации должен быть хотя бы не меньше 50 % (коэффициент корреляции превышает 70 %). </a:t>
            </a:r>
          </a:p>
          <a:p>
            <a:pPr lvl="0"/>
            <a:r>
              <a:rPr lang="ru-RU" dirty="0"/>
              <a:t>Модели с коэффициентом детерминации выше 80 % можно признать </a:t>
            </a:r>
            <a:r>
              <a:rPr lang="ru-RU" i="1" dirty="0"/>
              <a:t>хорошими</a:t>
            </a:r>
            <a:r>
              <a:rPr lang="ru-RU" dirty="0"/>
              <a:t> (коэффициент корреляции превышает 90 %).</a:t>
            </a:r>
          </a:p>
          <a:p>
            <a:pPr lvl="0"/>
            <a:r>
              <a:rPr lang="ru-RU" dirty="0"/>
              <a:t>Значение коэффициента детерминации 1 означает функциональную зависимость между переменными.</a:t>
            </a:r>
          </a:p>
        </p:txBody>
      </p:sp>
    </p:spTree>
    <p:extLst>
      <p:ext uri="{BB962C8B-B14F-4D97-AF65-F5344CB8AC3E}">
        <p14:creationId xmlns:p14="http://schemas.microsoft.com/office/powerpoint/2010/main" val="30701090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D4D06-D62A-295B-A614-0542A9C61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152D54-E9C8-6EC5-44A8-160CA2F89B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43000"/>
            <a:ext cx="9144000" cy="605901"/>
          </a:xfrm>
        </p:spPr>
        <p:txBody>
          <a:bodyPr/>
          <a:lstStyle/>
          <a:p>
            <a:r>
              <a:rPr lang="ru-RU" dirty="0"/>
              <a:t>Пример: как менялся уровень доверия пользователя 5828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D161C9B-8425-8072-9366-198285EC43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75" y="1902999"/>
            <a:ext cx="5702300" cy="456120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79B5E453-D249-0B98-4D5A-C3A8AF7600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0591" y="129170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025" name="Рисунок 5">
            <a:extLst>
              <a:ext uri="{FF2B5EF4-FFF2-40B4-BE49-F238E27FC236}">
                <a16:creationId xmlns:a16="http://schemas.microsoft.com/office/drawing/2014/main" id="{72F914DC-2B78-6AFC-8F6D-EA60AE9091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8372" y="1934799"/>
            <a:ext cx="5816003" cy="4652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A4EE1D4B-133C-C71C-CC2C-6B3BF16CB5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5569" y="6581001"/>
            <a:ext cx="494417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1" u="none" strike="noStrike" cap="none" normalizeH="0" baseline="0" dirty="0">
                <a:ln>
                  <a:noFill/>
                </a:ln>
                <a:solidFill>
                  <a:srgbClr val="44546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Параметр 1: </a:t>
            </a:r>
            <a:r>
              <a:rPr lang="ru-RU" altLang="ru-RU" sz="1200" i="1" dirty="0">
                <a:solidFill>
                  <a:srgbClr val="44546A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kumimoji="0" lang="ru-RU" altLang="ru-RU" sz="1200" b="0" i="1" u="none" strike="noStrike" cap="none" normalizeH="0" baseline="0" dirty="0">
                <a:ln>
                  <a:noFill/>
                </a:ln>
                <a:solidFill>
                  <a:srgbClr val="44546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бщая продолжительность сессий пользователя 5828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BF1C0FCF-CD4D-7F91-D308-2407D619D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075" y="6466033"/>
            <a:ext cx="367799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1" u="none" strike="noStrike" cap="none" normalizeH="0" baseline="0" dirty="0">
                <a:ln>
                  <a:noFill/>
                </a:ln>
                <a:solidFill>
                  <a:srgbClr val="44546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Изменение уровня доверия к пользователю 5828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352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DB742-62B3-9A03-3635-9F4660CB4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FBA96F-E712-9454-B8E0-EA19B5FB4E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43000"/>
            <a:ext cx="9144000" cy="605901"/>
          </a:xfrm>
        </p:spPr>
        <p:txBody>
          <a:bodyPr/>
          <a:lstStyle/>
          <a:p>
            <a:r>
              <a:rPr lang="ru-RU" dirty="0"/>
              <a:t>Пример: как менялся уровень доверия пользователя 5828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923B298-2AF8-5B6A-EED5-E7B59DD6F6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75" y="1902999"/>
            <a:ext cx="5702300" cy="456120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A37CFDC1-0178-DA35-84DB-1320B61AB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0591" y="129170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54F915B-5691-9F7D-6298-989FB01A9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5569" y="6581001"/>
            <a:ext cx="364375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1" u="none" strike="noStrike" cap="none" normalizeH="0" baseline="0" dirty="0">
                <a:ln>
                  <a:noFill/>
                </a:ln>
                <a:solidFill>
                  <a:srgbClr val="44546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Параметр 2: Объём трафика пользователя 5828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5932BF2-C6E7-D9CC-DC51-1AD61D9A4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075" y="6466033"/>
            <a:ext cx="367799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1" u="none" strike="noStrike" cap="none" normalizeH="0" baseline="0" dirty="0">
                <a:ln>
                  <a:noFill/>
                </a:ln>
                <a:solidFill>
                  <a:srgbClr val="44546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Изменение уровня доверия к пользователю 5828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C79CD69-BB87-9857-120C-3A78E51C7A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897602"/>
            <a:ext cx="5940425" cy="47523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0063015"/>
      </p:ext>
    </p:extLst>
  </p:cSld>
  <p:clrMapOvr>
    <a:masterClrMapping/>
  </p:clrMapOvr>
</p:sld>
</file>

<file path=ppt/theme/theme1.xml><?xml version="1.0" encoding="utf-8"?>
<a:theme xmlns:a="http://schemas.openxmlformats.org/drawingml/2006/main" name="ДивидендVTI">
  <a:themeElements>
    <a:clrScheme name="Custom 10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ED8428"/>
      </a:accent1>
      <a:accent2>
        <a:srgbClr val="E6C46D"/>
      </a:accent2>
      <a:accent3>
        <a:srgbClr val="465359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 design_Win32_SL_V15" id="{2701BB1F-F316-4B75-9491-9CBB0D27A737}" vid="{567D41FF-711B-46C9-BAF2-A20952F37F9E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26303C-A89C-422C-9097-BDF7002EFC54}">
  <ds:schemaRefs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schemas.microsoft.com/sharepoint/v3"/>
    <ds:schemaRef ds:uri="230e9df3-be65-4c73-a93b-d1236ebd677e"/>
    <ds:schemaRef ds:uri="http://purl.org/dc/terms/"/>
    <ds:schemaRef ds:uri="http://schemas.openxmlformats.org/package/2006/metadata/core-properties"/>
    <ds:schemaRef ds:uri="16c05727-aa75-4e4a-9b5f-8a80a1165891"/>
    <ds:schemaRef ds:uri="http://purl.org/dc/dcmitype/"/>
    <ds:schemaRef ds:uri="71af3243-3dd4-4a8d-8c0d-dd76da1f02a5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6E679C34-122C-4127-90D9-C271AEE94CE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0437772-7826-4CEE-8E78-517B414A42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1724</Words>
  <Application>Microsoft Office PowerPoint</Application>
  <PresentationFormat>Широкоэкранный</PresentationFormat>
  <Paragraphs>208</Paragraphs>
  <Slides>27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3" baseType="lpstr">
      <vt:lpstr>Arial</vt:lpstr>
      <vt:lpstr>Calibri</vt:lpstr>
      <vt:lpstr>Cambria Math</vt:lpstr>
      <vt:lpstr>Times New Roman</vt:lpstr>
      <vt:lpstr>Wingdings 2</vt:lpstr>
      <vt:lpstr>ДивидендVTI</vt:lpstr>
      <vt:lpstr>Обнаружение аномальной активности в сети на основе анализа статистических отклонений в работе системы</vt:lpstr>
      <vt:lpstr>Цели </vt:lpstr>
      <vt:lpstr>Презентация PowerPoint</vt:lpstr>
      <vt:lpstr>Презентация PowerPoint</vt:lpstr>
      <vt:lpstr>3.Реализация IDS анализатора на C#</vt:lpstr>
      <vt:lpstr>3.Реализация IDS анализатора на C#</vt:lpstr>
      <vt:lpstr>Презентация PowerPoint</vt:lpstr>
      <vt:lpstr>3.Проверка на базе TelecomX</vt:lpstr>
      <vt:lpstr>Итог: TelecomX</vt:lpstr>
      <vt:lpstr>Презентация PowerPoint</vt:lpstr>
      <vt:lpstr>4.Реализация IDS системы(Модель данных - ДЕМО)</vt:lpstr>
      <vt:lpstr>4.Реализация IDS системы(Модель данных для процессов)</vt:lpstr>
      <vt:lpstr>5.Демонстрация (сервер)</vt:lpstr>
      <vt:lpstr>5.Демонстрация (сервер)</vt:lpstr>
      <vt:lpstr>5. Интерфейс IDS</vt:lpstr>
      <vt:lpstr>5. Интерфейс IDS</vt:lpstr>
      <vt:lpstr>Презентация PowerPoint</vt:lpstr>
      <vt:lpstr>5. Интерфейс IDS</vt:lpstr>
      <vt:lpstr>Презентация PowerPoint</vt:lpstr>
      <vt:lpstr>Презентация PowerPoint</vt:lpstr>
      <vt:lpstr>Итог</vt:lpstr>
      <vt:lpstr>Спасибо за внимание!!!</vt:lpstr>
      <vt:lpstr>Алгоритм распределения весов</vt:lpstr>
      <vt:lpstr>Алгоритм распределения весов</vt:lpstr>
      <vt:lpstr>Оценка качества анализатора</vt:lpstr>
      <vt:lpstr>Пример: как менялся уровень доверия пользователя 5828</vt:lpstr>
      <vt:lpstr>Пример: как менялся уровень доверия пользователя 5828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2023-12-10T17:10:56Z</dcterms:created>
  <dcterms:modified xsi:type="dcterms:W3CDTF">2026-01-21T23:55:47Z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